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embeddedFontLst>
    <p:embeddedFont>
      <p:font typeface="DM Sans" pitchFamily="34" charset="0"/>
      <p:regular r:id="rId17"/>
      <p:bold r:id="rId18"/>
    </p:embeddedFont>
    <p:embeddedFont>
      <p:font typeface="Bricolage Grotesque" panose="020B0605040402000204" pitchFamily="18" charset="0"/>
      <p:regular r:id="rId19"/>
      <p:bold r:id="rId20"/>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font" Target="fonts/font1.fntdata"/><Relationship Id="rId18" Type="http://schemas.openxmlformats.org/officeDocument/2006/relationships/font" Target="fonts/font2.fntdata"/><Relationship Id="rId19" Type="http://schemas.openxmlformats.org/officeDocument/2006/relationships/font" Target="fonts/font3.fntdata"/><Relationship Id="rId20" Type="http://schemas.openxmlformats.org/officeDocument/2006/relationships/font" Target="fonts/font4.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each question and take a show of hands or a few quick answers. Do not give the answers yet. Tell the audience we will come back to all four, and that they will play a short game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talk. The paper is from the Event Horizon Telescope Collaboration, published in 2022. It presents the first image of Sagittarius A star, the black hole at the centre of the Milky Way. In the next ten minutes we answer the four warm-up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to question one: nothing escapes once it passes the event horizon, not even light. Sgr A star is a supermassive black hole with about four million times the Sun's mass. It is roughly 27,000 light-years away, and its edge would fit inside the orbit of Mercury.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to question two: you cannot photograph the black hole itself, but you can photograph the glowing gas around it and the dark shadow it casts. The ring is about 52 micro-arcseconds across, which is like seeing an orange on the Moon. The picture on the right is an illustration, not the real image.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sets up the test. Astronomers measured the mass from the speeds of stars orbiting Sgr A star, using two different telescopes: Keck gives 3.95 million Suns and VLTI gives 4.30 million. From that mass, general relativity predicts how big the shadow should be. The EHT image then checks the prediction.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to question three: a telescope as large as the Earth. We cannot build one dish that big, so we link eight telescopes at six locations. Each pair of telescopes measures one detail of the picture, and as the Earth turns the pairs sweep out more detail. The 2017 run lasted from April 5 to 11, and April 7 gave the best data on Sgr A star.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three steps. Record: each station writes huge amounts of data and hydrogen maser clocks keep time. Combine: the data from all stations is matched. Rebuild: because the telescopes only sample part of the picture, imaging algorithms fill in the rest, and the team compared several independent methods. Sgr A star changes quickly, which makes imaging harder than for the black hole M87 star.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ring diameter is 51.8 micro-arcseconds. The shadow predicted from the stellar-orbit mass is 48.7 plus or minus 7. They are consistent. Sgr A star is far smaller than M87 star, yet both images match general relativity. The paper also says the data disfavour a black hole seen nearly edge-on, and some alternatives to a black hole.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to question four: the picture itself is science, but the tools built for it are used widely. Precise clocks, linking instruments across the planet, rebuilding images from sparse data, moving huge datasets, and simulating hot magnetised gas all have uses elsewhere. Be clear that the right-hand column is general knowledge and not a claim from the paper. A big benefit is also fundamental: testing Einstein's theory where no laboratory can reach.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 audience a few minutes to scan the code and play. After that, return to the four warm-up questions and ask whether anyone would now answer differently. Note for the presenter: the game page is private until you share it from its Share menu, so make sure the audience has access before the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14090D"/>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88721"/>
            <a:ext cx="5715000" cy="1173480"/>
          </a:xfrm>
          <a:prstGeom prst="rect">
            <a:avLst/>
          </a:prstGeom>
          <a:noFill/>
          <a:ln/>
        </p:spPr>
        <p:txBody>
          <a:bodyPr wrap="square" lIns="0" tIns="0" rIns="0" bIns="0" rtlCol="0" anchor="t"/>
          <a:lstStyle>
            <a:lvl1pPr algn="l" indent="0" marL="0">
              <a:lnSpc>
                <a:spcPct val="115000"/>
              </a:lnSpc>
              <a:buNone/>
              <a:defRPr lang="en-US" sz="4400" dirty="0">
                <a:solidFill>
                  <a:srgbClr val="F6ECE4"/>
                </a:solidFill>
                <a:latin typeface="Bricolage Grotesque" pitchFamily="34" charset="0"/>
                <a:ea typeface="Bricolage Grotesque" pitchFamily="34" charset="-122"/>
                <a:cs typeface="Bricolage Grotesque" pitchFamily="34" charset="-120"/>
              </a:defRPr>
            </a:lvl1pPr>
          </a:lstStyle>
          <a:p>
            <a:pPr algn="l" indent="0" marL="0">
              <a:lnSpc>
                <a:spcPct val="115000"/>
              </a:lnSpc>
              <a:buNone/>
            </a:pPr>
            <a:endParaRPr lang="en-US" sz="4400" dirty="0"/>
          </a:p>
        </p:txBody>
      </p:sp>
      <p:sp>
        <p:nvSpPr>
          <p:cNvPr id="3" name="Text Placeholder 2"/>
          <p:cNvSpPr/>
          <p:nvPr>
            <p:ph idx="101" type="body"/>
          </p:nvPr>
        </p:nvSpPr>
        <p:spPr>
          <a:xfrm>
            <a:off x="812800" y="2667001"/>
            <a:ext cx="10566400" cy="3378199"/>
          </a:xfrm>
          <a:prstGeom prst="rect">
            <a:avLst/>
          </a:prstGeom>
          <a:noFill/>
          <a:ln/>
        </p:spPr>
        <p:txBody>
          <a:bodyPr wrap="square" lIns="0" tIns="0" rIns="0" bIns="0" rtlCol="0" anchor="t"/>
          <a:lstStyle>
            <a:lvl1pPr algn="l" indent="0" marL="0">
              <a:lnSpc>
                <a:spcPct val="140000"/>
              </a:lnSpc>
              <a:buNone/>
              <a:defRPr lang="en-US" sz="1600" dirty="0">
                <a:solidFill>
                  <a:srgbClr val="F6ECE4"/>
                </a:solidFill>
                <a:latin typeface="DM Sans" pitchFamily="34" charset="0"/>
                <a:ea typeface="DM Sans" pitchFamily="34" charset="-122"/>
                <a:cs typeface="DM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14090D"/>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88721"/>
            <a:ext cx="5715000" cy="1173480"/>
          </a:xfrm>
          <a:prstGeom prst="rect">
            <a:avLst/>
          </a:prstGeom>
          <a:noFill/>
          <a:ln/>
        </p:spPr>
        <p:txBody>
          <a:bodyPr wrap="square" lIns="0" tIns="0" rIns="0" bIns="0" rtlCol="0" anchor="t"/>
          <a:lstStyle>
            <a:lvl1pPr algn="l" indent="0" marL="0">
              <a:lnSpc>
                <a:spcPct val="115000"/>
              </a:lnSpc>
              <a:buNone/>
              <a:defRPr lang="en-US" sz="4400" dirty="0">
                <a:solidFill>
                  <a:srgbClr val="F6ECE4"/>
                </a:solidFill>
                <a:latin typeface="Bricolage Grotesque" pitchFamily="34" charset="0"/>
                <a:ea typeface="Bricolage Grotesque" pitchFamily="34" charset="-122"/>
                <a:cs typeface="Bricolage Grotesque" pitchFamily="34" charset="-120"/>
              </a:defRPr>
            </a:lvl1pPr>
          </a:lstStyle>
          <a:p>
            <a:pPr algn="l" indent="0" marL="0">
              <a:lnSpc>
                <a:spcPct val="115000"/>
              </a:lnSpc>
              <a:buNone/>
            </a:pPr>
            <a:endParaRPr lang="en-US" sz="4400" dirty="0"/>
          </a:p>
        </p:txBody>
      </p:sp>
      <p:sp>
        <p:nvSpPr>
          <p:cNvPr id="3" name="Text Placeholder 2"/>
          <p:cNvSpPr/>
          <p:nvPr>
            <p:ph idx="101" type="body"/>
          </p:nvPr>
        </p:nvSpPr>
        <p:spPr>
          <a:xfrm>
            <a:off x="812800" y="2667001"/>
            <a:ext cx="10566400" cy="3378199"/>
          </a:xfrm>
          <a:prstGeom prst="rect">
            <a:avLst/>
          </a:prstGeom>
          <a:noFill/>
          <a:ln/>
        </p:spPr>
        <p:txBody>
          <a:bodyPr wrap="square" lIns="0" tIns="0" rIns="0" bIns="0" rtlCol="0" anchor="t"/>
          <a:lstStyle>
            <a:lvl1pPr algn="l" indent="0" marL="0">
              <a:lnSpc>
                <a:spcPct val="140000"/>
              </a:lnSpc>
              <a:buNone/>
              <a:defRPr lang="en-US" sz="1600" dirty="0">
                <a:solidFill>
                  <a:srgbClr val="F6ECE4"/>
                </a:solidFill>
                <a:latin typeface="DM Sans" pitchFamily="34" charset="0"/>
                <a:ea typeface="DM Sans" pitchFamily="34" charset="-122"/>
                <a:cs typeface="DM Sans" pitchFamily="34" charset="-120"/>
              </a:defRPr>
            </a:lvl1pPr>
          </a:lstStyle>
          <a:p>
            <a:pPr algn="l" indent="0" marL="0">
              <a:lnSpc>
                <a:spcPct val="140000"/>
              </a:lnSpc>
              <a:buNone/>
            </a:pPr>
            <a:endParaRPr lang="en-US" sz="1600"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090D"/>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EF6A1A"/>
                </a:solidFill>
                <a:latin typeface="DM Sans" pitchFamily="34" charset="0"/>
                <a:ea typeface="DM Sans" pitchFamily="34" charset="-122"/>
                <a:cs typeface="DM Sans" pitchFamily="34" charset="-120"/>
              </a:rPr>
              <a:t>WARM-UP · SHOW OF HANDS</a:t>
            </a:r>
            <a:endParaRPr lang="en-US" sz="1400" dirty="0"/>
          </a:p>
        </p:txBody>
      </p:sp>
      <p:sp>
        <p:nvSpPr>
          <p:cNvPr id="3" name="Text 1"/>
          <p:cNvSpPr/>
          <p:nvPr>
            <p:ph type="title"/>
          </p:nvPr>
        </p:nvSpPr>
        <p:spPr>
          <a:xfrm>
            <a:off x="812800" y="1290320"/>
            <a:ext cx="10883392" cy="665480"/>
          </a:xfrm>
          <a:prstGeom prst="rect">
            <a:avLst/>
          </a:prstGeom>
          <a:noFill/>
          <a:ln/>
        </p:spPr>
        <p:txBody>
          <a:bodyPr wrap="square" lIns="0" tIns="0" rIns="0" bIns="0" rtlCol="0" anchor="t">
            <a:normAutofit/>
          </a:bodyPr>
          <a:lstStyle/>
          <a:p>
            <a:pPr algn="l" indent="0" marL="0">
              <a:lnSpc>
                <a:spcPts val="5040"/>
              </a:lnSpc>
              <a:buNone/>
            </a:pPr>
            <a:r>
              <a:rPr lang="en-US" sz="4800" b="1" i="0" dirty="0">
                <a:solidFill>
                  <a:srgbClr val="F6ECE4"/>
                </a:solidFill>
                <a:latin typeface="Bricolage Grotesque" pitchFamily="18" charset="0"/>
                <a:ea typeface="Bricolage Grotesque" pitchFamily="18" charset="-122"/>
                <a:cs typeface="Bricolage Grotesque" pitchFamily="18" charset="-120"/>
              </a:rPr>
              <a:t>Four questions before we start</a:t>
            </a:r>
            <a:endParaRPr lang="en-US" sz="4800" dirty="0"/>
          </a:p>
        </p:txBody>
      </p:sp>
      <p:sp>
        <p:nvSpPr>
          <p:cNvPr id="4" name="Shape 2"/>
          <p:cNvSpPr/>
          <p:nvPr/>
        </p:nvSpPr>
        <p:spPr>
          <a:xfrm>
            <a:off x="815975" y="2162175"/>
            <a:ext cx="5175250" cy="1454150"/>
          </a:xfrm>
          <a:prstGeom prst="roundRect">
            <a:avLst>
              <a:gd name="adj" fmla="val 6769"/>
            </a:avLst>
          </a:prstGeom>
          <a:solidFill>
            <a:srgbClr val="24161A"/>
          </a:solidFill>
          <a:ln w="6350">
            <a:solidFill>
              <a:srgbClr val="3B2A2F"/>
            </a:solidFill>
            <a:prstDash val="solid"/>
          </a:ln>
        </p:spPr>
      </p:sp>
      <p:sp>
        <p:nvSpPr>
          <p:cNvPr id="5" name="Text 3"/>
          <p:cNvSpPr/>
          <p:nvPr/>
        </p:nvSpPr>
        <p:spPr>
          <a:xfrm>
            <a:off x="1071880" y="2418080"/>
            <a:ext cx="4803343"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FB347"/>
                </a:solidFill>
                <a:latin typeface="DM Sans" pitchFamily="34" charset="0"/>
                <a:ea typeface="DM Sans" pitchFamily="34" charset="-122"/>
                <a:cs typeface="DM Sans" pitchFamily="34" charset="-120"/>
              </a:rPr>
              <a:t>GRAVITY</a:t>
            </a:r>
            <a:endParaRPr lang="en-US" sz="1200" dirty="0"/>
          </a:p>
        </p:txBody>
      </p:sp>
      <p:sp>
        <p:nvSpPr>
          <p:cNvPr id="6" name="Text 4"/>
          <p:cNvSpPr/>
          <p:nvPr/>
        </p:nvSpPr>
        <p:spPr>
          <a:xfrm>
            <a:off x="1071880" y="2720340"/>
            <a:ext cx="4803343" cy="665480"/>
          </a:xfrm>
          <a:prstGeom prst="rect">
            <a:avLst/>
          </a:prstGeom>
          <a:noFill/>
          <a:ln/>
        </p:spPr>
        <p:txBody>
          <a:bodyPr wrap="square" lIns="0" tIns="0" rIns="0" bIns="0" rtlCol="0" anchor="t">
            <a:normAutofit/>
          </a:bodyPr>
          <a:lstStyle/>
          <a:p>
            <a:pPr algn="l" indent="0" marL="0">
              <a:lnSpc>
                <a:spcPts val="2520"/>
              </a:lnSpc>
              <a:buNone/>
            </a:pPr>
            <a:r>
              <a:rPr lang="en-US" sz="2100" dirty="0">
                <a:solidFill>
                  <a:srgbClr val="F6ECE4"/>
                </a:solidFill>
                <a:latin typeface="DM Sans" pitchFamily="34" charset="0"/>
                <a:ea typeface="DM Sans" pitchFamily="34" charset="-122"/>
                <a:cs typeface="DM Sans" pitchFamily="34" charset="-120"/>
              </a:rPr>
              <a:t>Can anything escape a black hole, even light?</a:t>
            </a:r>
            <a:endParaRPr lang="en-US" sz="2100" dirty="0"/>
          </a:p>
        </p:txBody>
      </p:sp>
      <p:sp>
        <p:nvSpPr>
          <p:cNvPr id="7" name="Shape 5"/>
          <p:cNvSpPr/>
          <p:nvPr/>
        </p:nvSpPr>
        <p:spPr>
          <a:xfrm>
            <a:off x="6200775" y="2162175"/>
            <a:ext cx="5175250" cy="1454150"/>
          </a:xfrm>
          <a:prstGeom prst="roundRect">
            <a:avLst>
              <a:gd name="adj" fmla="val 6769"/>
            </a:avLst>
          </a:prstGeom>
          <a:solidFill>
            <a:srgbClr val="24161A"/>
          </a:solidFill>
          <a:ln w="6350">
            <a:solidFill>
              <a:srgbClr val="3B2A2F"/>
            </a:solidFill>
            <a:prstDash val="solid"/>
          </a:ln>
        </p:spPr>
      </p:sp>
      <p:sp>
        <p:nvSpPr>
          <p:cNvPr id="8" name="Text 6"/>
          <p:cNvSpPr/>
          <p:nvPr/>
        </p:nvSpPr>
        <p:spPr>
          <a:xfrm>
            <a:off x="6456680" y="2418080"/>
            <a:ext cx="4803343"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FB347"/>
                </a:solidFill>
                <a:latin typeface="DM Sans" pitchFamily="34" charset="0"/>
                <a:ea typeface="DM Sans" pitchFamily="34" charset="-122"/>
                <a:cs typeface="DM Sans" pitchFamily="34" charset="-120"/>
              </a:rPr>
              <a:t>IMAGING</a:t>
            </a:r>
            <a:endParaRPr lang="en-US" sz="1200" dirty="0"/>
          </a:p>
        </p:txBody>
      </p:sp>
      <p:sp>
        <p:nvSpPr>
          <p:cNvPr id="9" name="Text 7"/>
          <p:cNvSpPr/>
          <p:nvPr/>
        </p:nvSpPr>
        <p:spPr>
          <a:xfrm>
            <a:off x="6456680" y="2720340"/>
            <a:ext cx="4803343" cy="665480"/>
          </a:xfrm>
          <a:prstGeom prst="rect">
            <a:avLst/>
          </a:prstGeom>
          <a:noFill/>
          <a:ln/>
        </p:spPr>
        <p:txBody>
          <a:bodyPr wrap="square" lIns="0" tIns="0" rIns="0" bIns="0" rtlCol="0" anchor="t">
            <a:normAutofit/>
          </a:bodyPr>
          <a:lstStyle/>
          <a:p>
            <a:pPr algn="l" indent="0" marL="0">
              <a:lnSpc>
                <a:spcPts val="2520"/>
              </a:lnSpc>
              <a:buNone/>
            </a:pPr>
            <a:r>
              <a:rPr lang="en-US" sz="2100" dirty="0">
                <a:solidFill>
                  <a:srgbClr val="F6ECE4"/>
                </a:solidFill>
                <a:latin typeface="DM Sans" pitchFamily="34" charset="0"/>
                <a:ea typeface="DM Sans" pitchFamily="34" charset="-122"/>
                <a:cs typeface="DM Sans" pitchFamily="34" charset="-120"/>
              </a:rPr>
              <a:t>How do you photograph something that is black?</a:t>
            </a:r>
            <a:endParaRPr lang="en-US" sz="2100" dirty="0"/>
          </a:p>
        </p:txBody>
      </p:sp>
      <p:sp>
        <p:nvSpPr>
          <p:cNvPr id="10" name="Shape 8"/>
          <p:cNvSpPr/>
          <p:nvPr/>
        </p:nvSpPr>
        <p:spPr>
          <a:xfrm>
            <a:off x="815975" y="3825875"/>
            <a:ext cx="5175250" cy="1454150"/>
          </a:xfrm>
          <a:prstGeom prst="roundRect">
            <a:avLst>
              <a:gd name="adj" fmla="val 6769"/>
            </a:avLst>
          </a:prstGeom>
          <a:solidFill>
            <a:srgbClr val="24161A"/>
          </a:solidFill>
          <a:ln w="6350">
            <a:solidFill>
              <a:srgbClr val="3B2A2F"/>
            </a:solidFill>
            <a:prstDash val="solid"/>
          </a:ln>
        </p:spPr>
      </p:sp>
      <p:sp>
        <p:nvSpPr>
          <p:cNvPr id="11" name="Text 9"/>
          <p:cNvSpPr/>
          <p:nvPr/>
        </p:nvSpPr>
        <p:spPr>
          <a:xfrm>
            <a:off x="1071880" y="4081780"/>
            <a:ext cx="4803343"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FB347"/>
                </a:solidFill>
                <a:latin typeface="DM Sans" pitchFamily="34" charset="0"/>
                <a:ea typeface="DM Sans" pitchFamily="34" charset="-122"/>
                <a:cs typeface="DM Sans" pitchFamily="34" charset="-120"/>
              </a:rPr>
              <a:t>SCALE</a:t>
            </a:r>
            <a:endParaRPr lang="en-US" sz="1200" dirty="0"/>
          </a:p>
        </p:txBody>
      </p:sp>
      <p:sp>
        <p:nvSpPr>
          <p:cNvPr id="12" name="Text 10"/>
          <p:cNvSpPr/>
          <p:nvPr/>
        </p:nvSpPr>
        <p:spPr>
          <a:xfrm>
            <a:off x="1071880" y="4384040"/>
            <a:ext cx="4803343" cy="665480"/>
          </a:xfrm>
          <a:prstGeom prst="rect">
            <a:avLst/>
          </a:prstGeom>
          <a:noFill/>
          <a:ln/>
        </p:spPr>
        <p:txBody>
          <a:bodyPr wrap="square" lIns="0" tIns="0" rIns="0" bIns="0" rtlCol="0" anchor="t">
            <a:normAutofit/>
          </a:bodyPr>
          <a:lstStyle/>
          <a:p>
            <a:pPr algn="l" indent="0" marL="0">
              <a:lnSpc>
                <a:spcPts val="2520"/>
              </a:lnSpc>
              <a:buNone/>
            </a:pPr>
            <a:r>
              <a:rPr lang="en-US" sz="2100" dirty="0">
                <a:solidFill>
                  <a:srgbClr val="F6ECE4"/>
                </a:solidFill>
                <a:latin typeface="DM Sans" pitchFamily="34" charset="0"/>
                <a:ea typeface="DM Sans" pitchFamily="34" charset="-122"/>
                <a:cs typeface="DM Sans" pitchFamily="34" charset="-120"/>
              </a:rPr>
              <a:t>How big must a telescope be to see it?</a:t>
            </a:r>
            <a:endParaRPr lang="en-US" sz="2100" dirty="0"/>
          </a:p>
        </p:txBody>
      </p:sp>
      <p:sp>
        <p:nvSpPr>
          <p:cNvPr id="13" name="Shape 11"/>
          <p:cNvSpPr/>
          <p:nvPr/>
        </p:nvSpPr>
        <p:spPr>
          <a:xfrm>
            <a:off x="6200775" y="3825875"/>
            <a:ext cx="5175250" cy="1454150"/>
          </a:xfrm>
          <a:prstGeom prst="roundRect">
            <a:avLst>
              <a:gd name="adj" fmla="val 6769"/>
            </a:avLst>
          </a:prstGeom>
          <a:solidFill>
            <a:srgbClr val="24161A"/>
          </a:solidFill>
          <a:ln w="6350">
            <a:solidFill>
              <a:srgbClr val="3B2A2F"/>
            </a:solidFill>
            <a:prstDash val="solid"/>
          </a:ln>
        </p:spPr>
      </p:sp>
      <p:sp>
        <p:nvSpPr>
          <p:cNvPr id="14" name="Text 12"/>
          <p:cNvSpPr/>
          <p:nvPr/>
        </p:nvSpPr>
        <p:spPr>
          <a:xfrm>
            <a:off x="6456680" y="4081780"/>
            <a:ext cx="4803343"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FB347"/>
                </a:solidFill>
                <a:latin typeface="DM Sans" pitchFamily="34" charset="0"/>
                <a:ea typeface="DM Sans" pitchFamily="34" charset="-122"/>
                <a:cs typeface="DM Sans" pitchFamily="34" charset="-120"/>
              </a:rPr>
              <a:t>SOCIETY</a:t>
            </a:r>
            <a:endParaRPr lang="en-US" sz="1200" dirty="0"/>
          </a:p>
        </p:txBody>
      </p:sp>
      <p:sp>
        <p:nvSpPr>
          <p:cNvPr id="15" name="Text 13"/>
          <p:cNvSpPr/>
          <p:nvPr/>
        </p:nvSpPr>
        <p:spPr>
          <a:xfrm>
            <a:off x="6456680" y="4384040"/>
            <a:ext cx="4803343" cy="665480"/>
          </a:xfrm>
          <a:prstGeom prst="rect">
            <a:avLst/>
          </a:prstGeom>
          <a:noFill/>
          <a:ln/>
        </p:spPr>
        <p:txBody>
          <a:bodyPr wrap="square" lIns="0" tIns="0" rIns="0" bIns="0" rtlCol="0" anchor="t">
            <a:normAutofit/>
          </a:bodyPr>
          <a:lstStyle/>
          <a:p>
            <a:pPr algn="l" indent="0" marL="0">
              <a:lnSpc>
                <a:spcPts val="2520"/>
              </a:lnSpc>
              <a:buNone/>
            </a:pPr>
            <a:r>
              <a:rPr lang="en-US" sz="2100" dirty="0">
                <a:solidFill>
                  <a:srgbClr val="F6ECE4"/>
                </a:solidFill>
                <a:latin typeface="DM Sans" pitchFamily="34" charset="0"/>
                <a:ea typeface="DM Sans" pitchFamily="34" charset="-122"/>
                <a:cs typeface="DM Sans" pitchFamily="34" charset="-120"/>
              </a:rPr>
              <a:t>Does a black hole picture help anyone on Earth?</a:t>
            </a:r>
            <a:endParaRPr lang="en-US" sz="2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4090D"/>
        </a:solidFill>
      </p:bgPr>
    </p:bg>
    <p:spTree>
      <p:nvGrpSpPr>
        <p:cNvPr id="1" name=""/>
        <p:cNvGrpSpPr/>
        <p:nvPr/>
      </p:nvGrpSpPr>
      <p:grpSpPr>
        <a:xfrm>
          <a:off x="0" y="0"/>
          <a:ext cx="0" cy="0"/>
          <a:chOff x="0" y="0"/>
          <a:chExt cx="0" cy="0"/>
        </a:xfrm>
      </p:grpSpPr>
      <p:sp>
        <p:nvSpPr>
          <p:cNvPr id="2" name="Shape 0"/>
          <p:cNvSpPr/>
          <p:nvPr/>
        </p:nvSpPr>
        <p:spPr>
          <a:xfrm>
            <a:off x="6350000" y="1016000"/>
            <a:ext cx="4826000" cy="4826000"/>
          </a:xfrm>
          <a:prstGeom prst="roundRect">
            <a:avLst>
              <a:gd name="adj" fmla="val 33684"/>
            </a:avLst>
          </a:prstGeom>
          <a:gradFill rotWithShape="1">
            <a:gsLst>
              <a:gs pos="0">
                <a:srgbClr val="050203"/>
              </a:gs>
              <a:gs pos="32000">
                <a:srgbClr val="050203"/>
              </a:gs>
              <a:gs pos="38000">
                <a:srgbClr val="B3260E"/>
              </a:gs>
              <a:gs pos="44000">
                <a:srgbClr val="EF6A1A"/>
              </a:gs>
              <a:gs pos="49000">
                <a:srgbClr val="FFB347"/>
              </a:gs>
              <a:gs pos="64000">
                <a:srgbClr val="FFB347">
                  <a:alpha val="0"/>
                </a:srgbClr>
              </a:gs>
            </a:gsLst>
            <a:path path="circle">
              <a:fillToRect l="50000" t="50000" r="50000" b="50000"/>
            </a:path>
          </a:gradFill>
          <a:ln/>
        </p:spPr>
      </p:sp>
      <p:sp>
        <p:nvSpPr>
          <p:cNvPr id="3" name="Text 1"/>
          <p:cNvSpPr/>
          <p:nvPr/>
        </p:nvSpPr>
        <p:spPr>
          <a:xfrm>
            <a:off x="812800" y="150241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EF6A1A"/>
                </a:solidFill>
                <a:latin typeface="DM Sans" pitchFamily="34" charset="0"/>
                <a:ea typeface="DM Sans" pitchFamily="34" charset="-122"/>
                <a:cs typeface="DM Sans" pitchFamily="34" charset="-120"/>
              </a:rPr>
              <a:t>EVENT HORIZON TELESCOPE · 2022</a:t>
            </a:r>
            <a:endParaRPr lang="en-US" sz="1400" dirty="0"/>
          </a:p>
        </p:txBody>
      </p:sp>
      <p:sp>
        <p:nvSpPr>
          <p:cNvPr id="4" name="Text 2"/>
          <p:cNvSpPr/>
          <p:nvPr>
            <p:ph type="title"/>
          </p:nvPr>
        </p:nvSpPr>
        <p:spPr>
          <a:xfrm>
            <a:off x="812800" y="1954530"/>
            <a:ext cx="5624830" cy="1930400"/>
          </a:xfrm>
          <a:prstGeom prst="rect">
            <a:avLst/>
          </a:prstGeom>
          <a:noFill/>
          <a:ln/>
        </p:spPr>
        <p:txBody>
          <a:bodyPr wrap="square" lIns="0" tIns="0" rIns="0" bIns="0" rtlCol="0" anchor="t">
            <a:normAutofit/>
          </a:bodyPr>
          <a:lstStyle/>
          <a:p>
            <a:pPr algn="l" indent="0" marL="0">
              <a:lnSpc>
                <a:spcPts val="7500"/>
              </a:lnSpc>
              <a:buNone/>
            </a:pPr>
            <a:r>
              <a:rPr lang="en-US" sz="7500" b="1" i="0" dirty="0">
                <a:solidFill>
                  <a:srgbClr val="F6ECE4"/>
                </a:solidFill>
                <a:latin typeface="Bricolage Grotesque" pitchFamily="18" charset="0"/>
                <a:ea typeface="Bricolage Grotesque" pitchFamily="18" charset="-122"/>
                <a:cs typeface="Bricolage Grotesque" pitchFamily="18" charset="-120"/>
              </a:rPr>
              <a:t>Shadow Catchers</a:t>
            </a:r>
            <a:endParaRPr lang="en-US" sz="7500" dirty="0"/>
          </a:p>
        </p:txBody>
      </p:sp>
      <p:sp>
        <p:nvSpPr>
          <p:cNvPr id="5" name="Text 3"/>
          <p:cNvSpPr/>
          <p:nvPr/>
        </p:nvSpPr>
        <p:spPr>
          <a:xfrm>
            <a:off x="812800" y="4062730"/>
            <a:ext cx="5363210" cy="1115060"/>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D8C7BE"/>
                </a:solidFill>
                <a:latin typeface="DM Sans" pitchFamily="34" charset="0"/>
                <a:ea typeface="DM Sans" pitchFamily="34" charset="-122"/>
                <a:cs typeface="DM Sans" pitchFamily="34" charset="-120"/>
              </a:rPr>
              <a:t>How an Earth-sized telescope photographed the black hole at the centre of our galaxy</a:t>
            </a:r>
            <a:endParaRPr lang="en-US" sz="2200" dirty="0"/>
          </a:p>
        </p:txBody>
      </p:sp>
      <p:sp>
        <p:nvSpPr>
          <p:cNvPr id="6" name="Text 4"/>
          <p:cNvSpPr/>
          <p:nvPr/>
        </p:nvSpPr>
        <p:spPr>
          <a:xfrm>
            <a:off x="812800" y="6238239"/>
            <a:ext cx="91567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6A49C"/>
                </a:solidFill>
                <a:latin typeface="DM Sans" pitchFamily="34" charset="0"/>
                <a:ea typeface="DM Sans" pitchFamily="34" charset="-122"/>
                <a:cs typeface="DM Sans" pitchFamily="34" charset="-120"/>
              </a:rPr>
              <a:t>Paper: First Sagittarius A* Event Horizon Telescope Results. I. · ApJL 930:L12 (2022)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ECE4"/>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B23D0B"/>
                </a:solidFill>
                <a:latin typeface="DM Sans" pitchFamily="34" charset="0"/>
                <a:ea typeface="DM Sans" pitchFamily="34" charset="-122"/>
                <a:cs typeface="DM Sans" pitchFamily="34" charset="-120"/>
              </a:rPr>
              <a:t>GRAVITY</a:t>
            </a:r>
            <a:endParaRPr lang="en-US" sz="1400" dirty="0"/>
          </a:p>
        </p:txBody>
      </p:sp>
      <p:sp>
        <p:nvSpPr>
          <p:cNvPr id="3" name="Text 1"/>
          <p:cNvSpPr/>
          <p:nvPr>
            <p:ph type="title"/>
          </p:nvPr>
        </p:nvSpPr>
        <p:spPr>
          <a:xfrm>
            <a:off x="812800" y="1188720"/>
            <a:ext cx="9810750" cy="1198880"/>
          </a:xfrm>
          <a:prstGeom prst="rect">
            <a:avLst/>
          </a:prstGeom>
          <a:noFill/>
          <a:ln/>
        </p:spPr>
        <p:txBody>
          <a:bodyPr wrap="square" lIns="0" tIns="0" rIns="0" bIns="0" rtlCol="0" anchor="t">
            <a:normAutofit/>
          </a:bodyPr>
          <a:lstStyle/>
          <a:p>
            <a:pPr algn="l" indent="0" marL="0">
              <a:lnSpc>
                <a:spcPts val="4620"/>
              </a:lnSpc>
              <a:buNone/>
            </a:pPr>
            <a:r>
              <a:rPr lang="en-US" sz="4400" b="1" i="0" dirty="0">
                <a:solidFill>
                  <a:srgbClr val="2A1A1E"/>
                </a:solidFill>
                <a:latin typeface="Bricolage Grotesque" pitchFamily="18" charset="0"/>
                <a:ea typeface="Bricolage Grotesque" pitchFamily="18" charset="-122"/>
                <a:cs typeface="Bricolage Grotesque" pitchFamily="18" charset="-120"/>
              </a:rPr>
              <a:t>A black hole is gravity that wins against light</a:t>
            </a:r>
            <a:endParaRPr lang="en-US" sz="4400" dirty="0"/>
          </a:p>
        </p:txBody>
      </p:sp>
      <p:sp>
        <p:nvSpPr>
          <p:cNvPr id="4" name="Text 2"/>
          <p:cNvSpPr/>
          <p:nvPr/>
        </p:nvSpPr>
        <p:spPr>
          <a:xfrm>
            <a:off x="812800" y="2489200"/>
            <a:ext cx="9156700" cy="66548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5A4A4E"/>
                </a:solidFill>
                <a:latin typeface="DM Sans" pitchFamily="34" charset="0"/>
                <a:ea typeface="DM Sans" pitchFamily="34" charset="-122"/>
                <a:cs typeface="DM Sans" pitchFamily="34" charset="-120"/>
              </a:rPr>
              <a:t>Anything that crosses its edge, the event horizon, cannot come back. That includes light.</a:t>
            </a:r>
            <a:endParaRPr lang="en-US" sz="1800" dirty="0"/>
          </a:p>
        </p:txBody>
      </p:sp>
      <p:sp>
        <p:nvSpPr>
          <p:cNvPr id="5" name="Shape 3"/>
          <p:cNvSpPr/>
          <p:nvPr/>
        </p:nvSpPr>
        <p:spPr>
          <a:xfrm>
            <a:off x="812800" y="4518661"/>
            <a:ext cx="3386667" cy="0"/>
          </a:xfrm>
          <a:prstGeom prst="line">
            <a:avLst/>
          </a:prstGeom>
          <a:noFill/>
          <a:ln w="25400">
            <a:solidFill>
              <a:srgbClr val="B23D0B"/>
            </a:solidFill>
            <a:prstDash val="solid"/>
          </a:ln>
        </p:spPr>
      </p:sp>
      <p:sp>
        <p:nvSpPr>
          <p:cNvPr id="6" name="Text 4"/>
          <p:cNvSpPr/>
          <p:nvPr/>
        </p:nvSpPr>
        <p:spPr>
          <a:xfrm>
            <a:off x="812800" y="4683761"/>
            <a:ext cx="3488267" cy="558800"/>
          </a:xfrm>
          <a:prstGeom prst="rect">
            <a:avLst/>
          </a:prstGeom>
          <a:noFill/>
          <a:ln/>
        </p:spPr>
        <p:txBody>
          <a:bodyPr wrap="square" lIns="0" tIns="0" rIns="0" bIns="0" rtlCol="0" anchor="t">
            <a:normAutofit/>
          </a:bodyPr>
          <a:lstStyle/>
          <a:p>
            <a:pPr algn="l" indent="0" marL="0">
              <a:lnSpc>
                <a:spcPts val="4200"/>
              </a:lnSpc>
              <a:buNone/>
            </a:pPr>
            <a:r>
              <a:rPr lang="en-US" sz="4200" b="1" dirty="0">
                <a:solidFill>
                  <a:srgbClr val="2A1A1E"/>
                </a:solidFill>
                <a:latin typeface="Bricolage Grotesque" pitchFamily="18" charset="0"/>
                <a:ea typeface="Bricolage Grotesque" pitchFamily="18" charset="-122"/>
                <a:cs typeface="Bricolage Grotesque" pitchFamily="18" charset="-120"/>
              </a:rPr>
              <a:t>4 million</a:t>
            </a:r>
            <a:endParaRPr lang="en-US" sz="4200" dirty="0"/>
          </a:p>
        </p:txBody>
      </p:sp>
      <p:sp>
        <p:nvSpPr>
          <p:cNvPr id="7" name="Text 5"/>
          <p:cNvSpPr/>
          <p:nvPr/>
        </p:nvSpPr>
        <p:spPr>
          <a:xfrm>
            <a:off x="812800" y="5293361"/>
            <a:ext cx="3488267" cy="29972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5A4A4E"/>
                </a:solidFill>
                <a:latin typeface="DM Sans" pitchFamily="34" charset="0"/>
                <a:ea typeface="DM Sans" pitchFamily="34" charset="-122"/>
                <a:cs typeface="DM Sans" pitchFamily="34" charset="-120"/>
              </a:rPr>
              <a:t>times the mass of the Sun</a:t>
            </a:r>
            <a:endParaRPr lang="en-US" sz="1600" dirty="0"/>
          </a:p>
        </p:txBody>
      </p:sp>
      <p:sp>
        <p:nvSpPr>
          <p:cNvPr id="8" name="Shape 6"/>
          <p:cNvSpPr/>
          <p:nvPr/>
        </p:nvSpPr>
        <p:spPr>
          <a:xfrm>
            <a:off x="4402667" y="4518661"/>
            <a:ext cx="3386667" cy="0"/>
          </a:xfrm>
          <a:prstGeom prst="line">
            <a:avLst/>
          </a:prstGeom>
          <a:noFill/>
          <a:ln w="25400">
            <a:solidFill>
              <a:srgbClr val="B23D0B"/>
            </a:solidFill>
            <a:prstDash val="solid"/>
          </a:ln>
        </p:spPr>
      </p:sp>
      <p:sp>
        <p:nvSpPr>
          <p:cNvPr id="9" name="Text 7"/>
          <p:cNvSpPr/>
          <p:nvPr/>
        </p:nvSpPr>
        <p:spPr>
          <a:xfrm>
            <a:off x="4402667" y="4683761"/>
            <a:ext cx="3488267" cy="558800"/>
          </a:xfrm>
          <a:prstGeom prst="rect">
            <a:avLst/>
          </a:prstGeom>
          <a:noFill/>
          <a:ln/>
        </p:spPr>
        <p:txBody>
          <a:bodyPr wrap="square" lIns="0" tIns="0" rIns="0" bIns="0" rtlCol="0" anchor="t">
            <a:normAutofit/>
          </a:bodyPr>
          <a:lstStyle/>
          <a:p>
            <a:pPr algn="l" indent="0" marL="0">
              <a:lnSpc>
                <a:spcPts val="4200"/>
              </a:lnSpc>
              <a:buNone/>
            </a:pPr>
            <a:r>
              <a:rPr lang="en-US" sz="4200" b="1" dirty="0">
                <a:solidFill>
                  <a:srgbClr val="2A1A1E"/>
                </a:solidFill>
                <a:latin typeface="Bricolage Grotesque" pitchFamily="18" charset="0"/>
                <a:ea typeface="Bricolage Grotesque" pitchFamily="18" charset="-122"/>
                <a:cs typeface="Bricolage Grotesque" pitchFamily="18" charset="-120"/>
              </a:rPr>
              <a:t>27,000</a:t>
            </a:r>
            <a:endParaRPr lang="en-US" sz="4200" dirty="0"/>
          </a:p>
        </p:txBody>
      </p:sp>
      <p:sp>
        <p:nvSpPr>
          <p:cNvPr id="10" name="Text 8"/>
          <p:cNvSpPr/>
          <p:nvPr/>
        </p:nvSpPr>
        <p:spPr>
          <a:xfrm>
            <a:off x="4402667" y="5293361"/>
            <a:ext cx="3488267" cy="57404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5A4A4E"/>
                </a:solidFill>
                <a:latin typeface="DM Sans" pitchFamily="34" charset="0"/>
                <a:ea typeface="DM Sans" pitchFamily="34" charset="-122"/>
                <a:cs typeface="DM Sans" pitchFamily="34" charset="-120"/>
              </a:rPr>
              <a:t>light-years from Earth, in the constellation Sagittarius</a:t>
            </a:r>
            <a:endParaRPr lang="en-US" sz="1600" dirty="0"/>
          </a:p>
        </p:txBody>
      </p:sp>
      <p:sp>
        <p:nvSpPr>
          <p:cNvPr id="11" name="Shape 9"/>
          <p:cNvSpPr/>
          <p:nvPr/>
        </p:nvSpPr>
        <p:spPr>
          <a:xfrm>
            <a:off x="7992533" y="4518661"/>
            <a:ext cx="3386667" cy="0"/>
          </a:xfrm>
          <a:prstGeom prst="line">
            <a:avLst/>
          </a:prstGeom>
          <a:noFill/>
          <a:ln w="25400">
            <a:solidFill>
              <a:srgbClr val="B23D0B"/>
            </a:solidFill>
            <a:prstDash val="solid"/>
          </a:ln>
        </p:spPr>
      </p:sp>
      <p:sp>
        <p:nvSpPr>
          <p:cNvPr id="12" name="Text 10"/>
          <p:cNvSpPr/>
          <p:nvPr/>
        </p:nvSpPr>
        <p:spPr>
          <a:xfrm>
            <a:off x="7992533" y="4683761"/>
            <a:ext cx="3488267" cy="558800"/>
          </a:xfrm>
          <a:prstGeom prst="rect">
            <a:avLst/>
          </a:prstGeom>
          <a:noFill/>
          <a:ln/>
        </p:spPr>
        <p:txBody>
          <a:bodyPr wrap="square" lIns="0" tIns="0" rIns="0" bIns="0" rtlCol="0" anchor="t">
            <a:normAutofit/>
          </a:bodyPr>
          <a:lstStyle/>
          <a:p>
            <a:pPr algn="l" indent="0" marL="0">
              <a:lnSpc>
                <a:spcPts val="4200"/>
              </a:lnSpc>
              <a:buNone/>
            </a:pPr>
            <a:r>
              <a:rPr lang="en-US" sz="4200" b="1" dirty="0">
                <a:solidFill>
                  <a:srgbClr val="2A1A1E"/>
                </a:solidFill>
                <a:latin typeface="Bricolage Grotesque" pitchFamily="18" charset="0"/>
                <a:ea typeface="Bricolage Grotesque" pitchFamily="18" charset="-122"/>
                <a:cs typeface="Bricolage Grotesque" pitchFamily="18" charset="-120"/>
              </a:rPr>
              <a:t>12 million km</a:t>
            </a:r>
            <a:endParaRPr lang="en-US" sz="4200" dirty="0"/>
          </a:p>
        </p:txBody>
      </p:sp>
      <p:sp>
        <p:nvSpPr>
          <p:cNvPr id="13" name="Text 11"/>
          <p:cNvSpPr/>
          <p:nvPr/>
        </p:nvSpPr>
        <p:spPr>
          <a:xfrm>
            <a:off x="7992533" y="5293361"/>
            <a:ext cx="3488267" cy="57404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5A4A4E"/>
                </a:solidFill>
                <a:latin typeface="DM Sans" pitchFamily="34" charset="0"/>
                <a:ea typeface="DM Sans" pitchFamily="34" charset="-122"/>
                <a:cs typeface="DM Sans" pitchFamily="34" charset="-120"/>
              </a:rPr>
              <a:t>radius of its edge, well inside Mercury’s orbit</a:t>
            </a:r>
            <a:endParaRPr lang="en-US" sz="1600" dirty="0"/>
          </a:p>
        </p:txBody>
      </p:sp>
      <p:sp>
        <p:nvSpPr>
          <p:cNvPr id="14" name="Text 12"/>
          <p:cNvSpPr/>
          <p:nvPr/>
        </p:nvSpPr>
        <p:spPr>
          <a:xfrm>
            <a:off x="812800" y="6238239"/>
            <a:ext cx="98107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5A5E"/>
                </a:solidFill>
                <a:latin typeface="DM Sans" pitchFamily="34" charset="0"/>
                <a:ea typeface="DM Sans" pitchFamily="34" charset="-122"/>
                <a:cs typeface="DM Sans" pitchFamily="34" charset="-120"/>
              </a:rPr>
              <a:t>Mass from stellar orbits; distance about 8 kpc (paper, Table 1). Sgr A* is the black hole at the Milky Way’s centre.</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4090D"/>
        </a:solidFill>
      </p:bgPr>
    </p:bg>
    <p:spTree>
      <p:nvGrpSpPr>
        <p:cNvPr id="1" name=""/>
        <p:cNvGrpSpPr/>
        <p:nvPr/>
      </p:nvGrpSpPr>
      <p:grpSpPr>
        <a:xfrm>
          <a:off x="0" y="0"/>
          <a:ext cx="0" cy="0"/>
          <a:chOff x="0" y="0"/>
          <a:chExt cx="0" cy="0"/>
        </a:xfrm>
      </p:grpSpPr>
      <p:sp>
        <p:nvSpPr>
          <p:cNvPr id="2" name="Shape 0"/>
          <p:cNvSpPr/>
          <p:nvPr/>
        </p:nvSpPr>
        <p:spPr>
          <a:xfrm>
            <a:off x="6985000" y="1270000"/>
            <a:ext cx="3810000" cy="3810000"/>
          </a:xfrm>
          <a:prstGeom prst="roundRect">
            <a:avLst>
              <a:gd name="adj" fmla="val 42667"/>
            </a:avLst>
          </a:prstGeom>
          <a:gradFill rotWithShape="1">
            <a:gsLst>
              <a:gs pos="0">
                <a:srgbClr val="050203"/>
              </a:gs>
              <a:gs pos="32000">
                <a:srgbClr val="050203"/>
              </a:gs>
              <a:gs pos="38000">
                <a:srgbClr val="B3260E"/>
              </a:gs>
              <a:gs pos="44000">
                <a:srgbClr val="EF6A1A"/>
              </a:gs>
              <a:gs pos="49000">
                <a:srgbClr val="FFB347"/>
              </a:gs>
              <a:gs pos="64000">
                <a:srgbClr val="FFB347">
                  <a:alpha val="0"/>
                </a:srgbClr>
              </a:gs>
            </a:gsLst>
            <a:path path="circle">
              <a:fillToRect l="50000" t="50000" r="50000" b="50000"/>
            </a:path>
          </a:gradFill>
          <a:ln/>
        </p:spPr>
      </p:sp>
      <p:sp>
        <p:nvSpPr>
          <p:cNvPr id="3" name="Text 1"/>
          <p:cNvSpPr/>
          <p:nvPr/>
        </p:nvSpPr>
        <p:spPr>
          <a:xfrm>
            <a:off x="812800" y="812800"/>
            <a:ext cx="5755640" cy="274320"/>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EF6A1A"/>
                </a:solidFill>
                <a:latin typeface="DM Sans" pitchFamily="34" charset="0"/>
                <a:ea typeface="DM Sans" pitchFamily="34" charset="-122"/>
                <a:cs typeface="DM Sans" pitchFamily="34" charset="-120"/>
              </a:rPr>
              <a:t>IMAGING</a:t>
            </a:r>
            <a:endParaRPr lang="en-US" sz="1400" dirty="0"/>
          </a:p>
        </p:txBody>
      </p:sp>
      <p:sp>
        <p:nvSpPr>
          <p:cNvPr id="4" name="Text 2"/>
          <p:cNvSpPr/>
          <p:nvPr>
            <p:ph type="title"/>
          </p:nvPr>
        </p:nvSpPr>
        <p:spPr>
          <a:xfrm>
            <a:off x="812800" y="1188720"/>
            <a:ext cx="5755640" cy="1198880"/>
          </a:xfrm>
          <a:prstGeom prst="rect">
            <a:avLst/>
          </a:prstGeom>
          <a:noFill/>
          <a:ln/>
        </p:spPr>
        <p:txBody>
          <a:bodyPr wrap="square" lIns="0" tIns="0" rIns="0" bIns="0" rtlCol="0" anchor="t">
            <a:normAutofit/>
          </a:bodyPr>
          <a:lstStyle/>
          <a:p>
            <a:pPr algn="l" indent="0" marL="0">
              <a:lnSpc>
                <a:spcPts val="4620"/>
              </a:lnSpc>
              <a:buNone/>
            </a:pPr>
            <a:r>
              <a:rPr lang="en-US" sz="4400" b="1" i="0" dirty="0">
                <a:solidFill>
                  <a:srgbClr val="F6ECE4"/>
                </a:solidFill>
                <a:latin typeface="Bricolage Grotesque" pitchFamily="18" charset="0"/>
                <a:ea typeface="Bricolage Grotesque" pitchFamily="18" charset="-122"/>
                <a:cs typeface="Bricolage Grotesque" pitchFamily="18" charset="-120"/>
              </a:rPr>
              <a:t>We photograph its shadow</a:t>
            </a:r>
            <a:endParaRPr lang="en-US" sz="4400" dirty="0"/>
          </a:p>
        </p:txBody>
      </p:sp>
      <p:sp>
        <p:nvSpPr>
          <p:cNvPr id="5" name="Text 3"/>
          <p:cNvSpPr/>
          <p:nvPr/>
        </p:nvSpPr>
        <p:spPr>
          <a:xfrm>
            <a:off x="812800" y="2616200"/>
            <a:ext cx="5755640" cy="676910"/>
          </a:xfrm>
          <a:prstGeom prst="rect">
            <a:avLst/>
          </a:prstGeom>
          <a:noFill/>
          <a:ln/>
        </p:spPr>
        <p:txBody>
          <a:bodyPr wrap="square" lIns="0" tIns="0" rIns="0" bIns="0" rtlCol="0" anchor="t">
            <a:normAutofit/>
          </a:bodyPr>
          <a:lstStyle/>
          <a:p>
            <a:pPr algn="l" indent="0" marL="0">
              <a:lnSpc>
                <a:spcPts val="2565"/>
              </a:lnSpc>
              <a:buNone/>
            </a:pPr>
            <a:r>
              <a:rPr lang="en-US" sz="1900" dirty="0">
                <a:solidFill>
                  <a:srgbClr val="D8C7BE"/>
                </a:solidFill>
                <a:latin typeface="DM Sans" pitchFamily="34" charset="0"/>
                <a:ea typeface="DM Sans" pitchFamily="34" charset="-122"/>
                <a:cs typeface="DM Sans" pitchFamily="34" charset="-120"/>
              </a:rPr>
              <a:t>Hot glowing gas swirls around the black hole. Its gravity bends that light into a bright ring.</a:t>
            </a:r>
            <a:endParaRPr lang="en-US" sz="1900" dirty="0"/>
          </a:p>
        </p:txBody>
      </p:sp>
      <p:sp>
        <p:nvSpPr>
          <p:cNvPr id="6" name="Text 4"/>
          <p:cNvSpPr/>
          <p:nvPr/>
        </p:nvSpPr>
        <p:spPr>
          <a:xfrm>
            <a:off x="812800" y="3445511"/>
            <a:ext cx="5755640" cy="676910"/>
          </a:xfrm>
          <a:prstGeom prst="rect">
            <a:avLst/>
          </a:prstGeom>
          <a:noFill/>
          <a:ln/>
        </p:spPr>
        <p:txBody>
          <a:bodyPr wrap="square" lIns="0" tIns="0" rIns="0" bIns="0" rtlCol="0" anchor="t">
            <a:normAutofit/>
          </a:bodyPr>
          <a:lstStyle/>
          <a:p>
            <a:pPr algn="l" indent="0" marL="0">
              <a:lnSpc>
                <a:spcPts val="2565"/>
              </a:lnSpc>
              <a:buNone/>
            </a:pPr>
            <a:r>
              <a:rPr lang="en-US" sz="1900" dirty="0">
                <a:solidFill>
                  <a:srgbClr val="D8C7BE"/>
                </a:solidFill>
                <a:latin typeface="DM Sans" pitchFamily="34" charset="0"/>
                <a:ea typeface="DM Sans" pitchFamily="34" charset="-122"/>
                <a:cs typeface="DM Sans" pitchFamily="34" charset="-120"/>
              </a:rPr>
              <a:t>Light that gets too close falls in. That leaves a dark patch in the middle: the shadow.</a:t>
            </a:r>
            <a:endParaRPr lang="en-US" sz="1900" dirty="0"/>
          </a:p>
        </p:txBody>
      </p:sp>
      <p:sp>
        <p:nvSpPr>
          <p:cNvPr id="7" name="Text 5"/>
          <p:cNvSpPr/>
          <p:nvPr/>
        </p:nvSpPr>
        <p:spPr>
          <a:xfrm>
            <a:off x="812800" y="4274820"/>
            <a:ext cx="5755640" cy="676910"/>
          </a:xfrm>
          <a:prstGeom prst="rect">
            <a:avLst/>
          </a:prstGeom>
          <a:noFill/>
          <a:ln/>
        </p:spPr>
        <p:txBody>
          <a:bodyPr wrap="square" lIns="0" tIns="0" rIns="0" bIns="0" rtlCol="0" anchor="t">
            <a:normAutofit/>
          </a:bodyPr>
          <a:lstStyle/>
          <a:p>
            <a:pPr algn="l" indent="0" marL="0">
              <a:lnSpc>
                <a:spcPts val="2565"/>
              </a:lnSpc>
              <a:buNone/>
            </a:pPr>
            <a:r>
              <a:rPr lang="en-US" sz="1900" b="1" dirty="0">
                <a:solidFill>
                  <a:srgbClr val="F6ECE4"/>
                </a:solidFill>
                <a:latin typeface="DM Sans" pitchFamily="34" charset="0"/>
                <a:ea typeface="DM Sans" pitchFamily="34" charset="-122"/>
                <a:cs typeface="DM Sans" pitchFamily="34" charset="-120"/>
              </a:rPr>
              <a:t>So we photograph something black by looking at what surrounds it.</a:t>
            </a:r>
            <a:endParaRPr lang="en-US" sz="1900" dirty="0"/>
          </a:p>
        </p:txBody>
      </p:sp>
      <p:sp>
        <p:nvSpPr>
          <p:cNvPr id="8" name="Text 6"/>
          <p:cNvSpPr/>
          <p:nvPr/>
        </p:nvSpPr>
        <p:spPr>
          <a:xfrm>
            <a:off x="6927850" y="5270500"/>
            <a:ext cx="3924300" cy="274320"/>
          </a:xfrm>
          <a:prstGeom prst="rect">
            <a:avLst/>
          </a:prstGeom>
          <a:noFill/>
          <a:ln/>
        </p:spPr>
        <p:txBody>
          <a:bodyPr wrap="square" lIns="0" tIns="0" rIns="0" bIns="0" rtlCol="0" anchor="t">
            <a:normAutofit/>
          </a:bodyPr>
          <a:lstStyle/>
          <a:p>
            <a:pPr algn="ctr" indent="0" marL="0">
              <a:lnSpc>
                <a:spcPts val="1960"/>
              </a:lnSpc>
              <a:buNone/>
            </a:pPr>
            <a:r>
              <a:rPr lang="en-US" sz="1400" dirty="0">
                <a:solidFill>
                  <a:srgbClr val="FFB347"/>
                </a:solidFill>
                <a:latin typeface="DM Sans" pitchFamily="34" charset="0"/>
                <a:ea typeface="DM Sans" pitchFamily="34" charset="-122"/>
                <a:cs typeface="DM Sans" pitchFamily="34" charset="-120"/>
              </a:rPr>
              <a:t>Illustration, not the real image</a:t>
            </a:r>
            <a:endParaRPr lang="en-US" sz="1400" dirty="0"/>
          </a:p>
        </p:txBody>
      </p:sp>
      <p:sp>
        <p:nvSpPr>
          <p:cNvPr id="9" name="Text 7"/>
          <p:cNvSpPr/>
          <p:nvPr/>
        </p:nvSpPr>
        <p:spPr>
          <a:xfrm>
            <a:off x="812800" y="6238239"/>
            <a:ext cx="98107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6A49C"/>
                </a:solidFill>
                <a:latin typeface="DM Sans" pitchFamily="34" charset="0"/>
                <a:ea typeface="DM Sans" pitchFamily="34" charset="-122"/>
                <a:cs typeface="DM Sans" pitchFamily="34" charset="-120"/>
              </a:rPr>
              <a:t>Measured ring diameter: 51.8 ± 2.3 µas (paper, Table 1). About the size of an orange on the Moon, seen from Earth.</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ECE4"/>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B23D0B"/>
                </a:solidFill>
                <a:latin typeface="DM Sans" pitchFamily="34" charset="0"/>
                <a:ea typeface="DM Sans" pitchFamily="34" charset="-122"/>
                <a:cs typeface="DM Sans" pitchFamily="34" charset="-120"/>
              </a:rPr>
              <a:t>WEIGHING IT</a:t>
            </a:r>
            <a:endParaRPr lang="en-US" sz="1400" dirty="0"/>
          </a:p>
        </p:txBody>
      </p:sp>
      <p:sp>
        <p:nvSpPr>
          <p:cNvPr id="3" name="Text 1"/>
          <p:cNvSpPr/>
          <p:nvPr>
            <p:ph type="title"/>
          </p:nvPr>
        </p:nvSpPr>
        <p:spPr>
          <a:xfrm>
            <a:off x="812800" y="1188721"/>
            <a:ext cx="9810750" cy="612140"/>
          </a:xfrm>
          <a:prstGeom prst="rect">
            <a:avLst/>
          </a:prstGeom>
          <a:noFill/>
          <a:ln/>
        </p:spPr>
        <p:txBody>
          <a:bodyPr wrap="square" lIns="0" tIns="0" rIns="0" bIns="0" rtlCol="0" anchor="t">
            <a:normAutofit/>
          </a:bodyPr>
          <a:lstStyle/>
          <a:p>
            <a:pPr algn="l" indent="0" marL="0">
              <a:lnSpc>
                <a:spcPts val="4620"/>
              </a:lnSpc>
              <a:buNone/>
            </a:pPr>
            <a:r>
              <a:rPr lang="en-US" sz="4400" b="1" i="0" dirty="0">
                <a:solidFill>
                  <a:srgbClr val="2A1A1E"/>
                </a:solidFill>
                <a:latin typeface="Bricolage Grotesque" pitchFamily="18" charset="0"/>
                <a:ea typeface="Bricolage Grotesque" pitchFamily="18" charset="-122"/>
                <a:cs typeface="Bricolage Grotesque" pitchFamily="18" charset="-120"/>
              </a:rPr>
              <a:t>Orbiting stars reveal the mass</a:t>
            </a:r>
            <a:endParaRPr lang="en-US" sz="4400" dirty="0"/>
          </a:p>
        </p:txBody>
      </p:sp>
      <p:sp>
        <p:nvSpPr>
          <p:cNvPr id="4" name="Text 2"/>
          <p:cNvSpPr/>
          <p:nvPr/>
        </p:nvSpPr>
        <p:spPr>
          <a:xfrm>
            <a:off x="812800" y="2080261"/>
            <a:ext cx="5232400" cy="701040"/>
          </a:xfrm>
          <a:prstGeom prst="rect">
            <a:avLst/>
          </a:prstGeom>
          <a:noFill/>
          <a:ln/>
        </p:spPr>
        <p:txBody>
          <a:bodyPr wrap="square" lIns="0" tIns="0" rIns="0" bIns="0" rtlCol="0" anchor="t">
            <a:normAutofit/>
          </a:bodyPr>
          <a:lstStyle/>
          <a:p>
            <a:pPr algn="l" indent="0" marL="0">
              <a:lnSpc>
                <a:spcPts val="2660"/>
              </a:lnSpc>
              <a:buNone/>
            </a:pPr>
            <a:r>
              <a:rPr lang="en-US" sz="1900" dirty="0">
                <a:solidFill>
                  <a:srgbClr val="2A1A1E"/>
                </a:solidFill>
                <a:latin typeface="DM Sans" pitchFamily="34" charset="0"/>
                <a:ea typeface="DM Sans" pitchFamily="34" charset="-122"/>
                <a:cs typeface="DM Sans" pitchFamily="34" charset="-120"/>
              </a:rPr>
              <a:t>Stars circle the black hole. The heavier the centre, the faster they move.</a:t>
            </a:r>
            <a:endParaRPr lang="en-US" sz="1900" dirty="0"/>
          </a:p>
        </p:txBody>
      </p:sp>
      <p:sp>
        <p:nvSpPr>
          <p:cNvPr id="5" name="Text 3"/>
          <p:cNvSpPr/>
          <p:nvPr/>
        </p:nvSpPr>
        <p:spPr>
          <a:xfrm>
            <a:off x="812800" y="2933700"/>
            <a:ext cx="5232400" cy="1038860"/>
          </a:xfrm>
          <a:prstGeom prst="rect">
            <a:avLst/>
          </a:prstGeom>
          <a:noFill/>
          <a:ln/>
        </p:spPr>
        <p:txBody>
          <a:bodyPr wrap="square" lIns="0" tIns="0" rIns="0" bIns="0" rtlCol="0" anchor="t">
            <a:normAutofit/>
          </a:bodyPr>
          <a:lstStyle/>
          <a:p>
            <a:pPr algn="l" indent="0" marL="0">
              <a:lnSpc>
                <a:spcPts val="2660"/>
              </a:lnSpc>
              <a:buNone/>
            </a:pPr>
            <a:r>
              <a:rPr lang="en-US" sz="1900" dirty="0">
                <a:solidFill>
                  <a:srgbClr val="5A4A4E"/>
                </a:solidFill>
                <a:latin typeface="DM Sans" pitchFamily="34" charset="0"/>
                <a:ea typeface="DM Sans" pitchFamily="34" charset="-122"/>
                <a:cs typeface="DM Sans" pitchFamily="34" charset="-120"/>
              </a:rPr>
              <a:t>Astronomers tracked these stars for years, then predicted how big the shadow should look.</a:t>
            </a:r>
            <a:endParaRPr lang="en-US" sz="19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309360" y="2090421"/>
          <a:ext cx="5069840" cy="2458720"/>
        </p:xfrm>
        <a:graphic>
          <a:graphicData uri="http://schemas.openxmlformats.org/drawingml/2006/table">
            <a:tbl>
              <a:tblPr/>
              <a:tblGrid>
                <a:gridCol w="3143301"/>
                <a:gridCol w="1926539"/>
              </a:tblGrid>
              <a:tr h="463550">
                <a:tc>
                  <a:txBody>
                    <a:bodyPr/>
                    <a:lstStyle/>
                    <a:p>
                      <a:pPr indent="0" marL="0">
                        <a:lnSpc>
                          <a:spcPts val="2380"/>
                        </a:lnSpc>
                        <a:buNone/>
                      </a:pPr>
                      <a:r>
                        <a:rPr lang="en-US" sz="1700" b="1" dirty="0">
                          <a:solidFill>
                            <a:srgbClr val="2A1A1E"/>
                          </a:solidFill>
                          <a:latin typeface="DM Sans" pitchFamily="34" charset="0"/>
                          <a:ea typeface="DM Sans" pitchFamily="34" charset="-122"/>
                          <a:cs typeface="DM Sans" pitchFamily="34" charset="-120"/>
                        </a:rPr>
                        <a:t>Method</a:t>
                      </a:r>
                      <a:endParaRPr lang="en-US" sz="1700" dirty="0">
                        <a:latin typeface="DM Sans" charset="0"/>
                        <a:ea typeface="DM Sans" charset="0"/>
                        <a:cs typeface="DM Sans" charset="0"/>
                      </a:endParaRPr>
                    </a:p>
                  </a:txBody>
                  <a:tcPr marL="75565" marR="75565" marT="75565" marB="75565" anchor="t">
                    <a:lnL w="12700" cap="flat" cmpd="sng" algn="ctr">
                      <a:solidFill>
                        <a:srgbClr val="C4BCB6"/>
                      </a:solidFill>
                      <a:prstDash val="solid"/>
                      <a:round/>
                      <a:headEnd type="none" w="med" len="med"/>
                      <a:tailEnd type="none" w="med" len="med"/>
                    </a:lnL>
                    <a:lnR w="12700" cap="flat" cmpd="sng" algn="ctr">
                      <a:solidFill>
                        <a:srgbClr val="B6AFA9"/>
                      </a:solidFill>
                      <a:prstDash val="solid"/>
                      <a:round/>
                      <a:headEnd type="none" w="med" len="med"/>
                      <a:tailEnd type="none" w="med" len="med"/>
                    </a:lnR>
                    <a:lnT w="12700" cap="flat" cmpd="sng" algn="ctr">
                      <a:solidFill>
                        <a:srgbClr val="C4BCB6"/>
                      </a:solidFill>
                      <a:prstDash val="solid"/>
                      <a:round/>
                      <a:headEnd type="none" w="med" len="med"/>
                      <a:tailEnd type="none" w="med" len="med"/>
                    </a:lnT>
                    <a:lnB w="12700" cap="flat" cmpd="sng" algn="ctr">
                      <a:solidFill>
                        <a:srgbClr val="B6AFA9"/>
                      </a:solidFill>
                      <a:prstDash val="solid"/>
                      <a:round/>
                      <a:headEnd type="none" w="med" len="med"/>
                      <a:tailEnd type="none" w="med" len="med"/>
                    </a:lnB>
                    <a:solidFill>
                      <a:srgbClr val="E4DBD3"/>
                    </a:solidFill>
                  </a:tcPr>
                </a:tc>
                <a:tc>
                  <a:txBody>
                    <a:bodyPr/>
                    <a:lstStyle/>
                    <a:p>
                      <a:pPr algn="r" indent="0" marL="0">
                        <a:lnSpc>
                          <a:spcPts val="2380"/>
                        </a:lnSpc>
                        <a:buNone/>
                      </a:pPr>
                      <a:r>
                        <a:rPr lang="en-US" sz="1700" b="1" dirty="0">
                          <a:solidFill>
                            <a:srgbClr val="2A1A1E"/>
                          </a:solidFill>
                          <a:latin typeface="DM Sans" pitchFamily="34" charset="0"/>
                          <a:ea typeface="DM Sans" pitchFamily="34" charset="-122"/>
                          <a:cs typeface="DM Sans" pitchFamily="34" charset="-120"/>
                        </a:rPr>
                        <a:t>Mass</a:t>
                      </a:r>
                      <a:endParaRPr lang="en-US" sz="1700" dirty="0">
                        <a:latin typeface="DM Sans" charset="0"/>
                        <a:ea typeface="DM Sans" charset="0"/>
                        <a:cs typeface="DM Sans" charset="0"/>
                      </a:endParaRPr>
                    </a:p>
                  </a:txBody>
                  <a:tcPr marL="75565" marR="75565" marT="75565" marB="75565" anchor="t">
                    <a:lnL w="12700" cap="flat" cmpd="sng" algn="ctr">
                      <a:solidFill>
                        <a:srgbClr val="B6AFA9"/>
                      </a:solidFill>
                      <a:prstDash val="solid"/>
                      <a:round/>
                      <a:headEnd type="none" w="med" len="med"/>
                      <a:tailEnd type="none" w="med" len="med"/>
                    </a:lnL>
                    <a:lnR w="12700" cap="flat" cmpd="sng" algn="ctr">
                      <a:solidFill>
                        <a:srgbClr val="B6AFA9"/>
                      </a:solidFill>
                      <a:prstDash val="solid"/>
                      <a:round/>
                      <a:headEnd type="none" w="med" len="med"/>
                      <a:tailEnd type="none" w="med" len="med"/>
                    </a:lnR>
                    <a:lnT w="12700" cap="flat" cmpd="sng" algn="ctr">
                      <a:solidFill>
                        <a:srgbClr val="C4BCB6"/>
                      </a:solidFill>
                      <a:prstDash val="solid"/>
                      <a:round/>
                      <a:headEnd type="none" w="med" len="med"/>
                      <a:tailEnd type="none" w="med" len="med"/>
                    </a:lnT>
                    <a:lnB w="12700" cap="flat" cmpd="sng" algn="ctr">
                      <a:solidFill>
                        <a:srgbClr val="B6AFA9"/>
                      </a:solidFill>
                      <a:prstDash val="solid"/>
                      <a:round/>
                      <a:headEnd type="none" w="med" len="med"/>
                      <a:tailEnd type="none" w="med" len="med"/>
                    </a:lnB>
                    <a:solidFill>
                      <a:srgbClr val="E4DBD3"/>
                    </a:solidFill>
                  </a:tcPr>
                </a:tc>
              </a:tr>
              <a:tr h="765810">
                <a:tc>
                  <a:txBody>
                    <a:bodyPr/>
                    <a:lstStyle/>
                    <a:p>
                      <a:pPr indent="0" marL="0">
                        <a:lnSpc>
                          <a:spcPts val="2380"/>
                        </a:lnSpc>
                        <a:buNone/>
                      </a:pPr>
                      <a:r>
                        <a:rPr lang="en-US" sz="1700" dirty="0">
                          <a:solidFill>
                            <a:srgbClr val="2A1A1E"/>
                          </a:solidFill>
                          <a:latin typeface="DM Sans" pitchFamily="34" charset="0"/>
                          <a:ea typeface="DM Sans" pitchFamily="34" charset="-122"/>
                          <a:cs typeface="DM Sans" pitchFamily="34" charset="-120"/>
                        </a:rPr>
                        <a:t>Star orbits, Keck telescope</a:t>
                      </a:r>
                      <a:endParaRPr lang="en-US" sz="1700" dirty="0">
                        <a:latin typeface="DM Sans" charset="0"/>
                        <a:ea typeface="DM Sans" charset="0"/>
                        <a:cs typeface="DM Sans" charset="0"/>
                      </a:endParaRPr>
                    </a:p>
                  </a:txBody>
                  <a:tcPr marL="75565" marR="75565" marT="75565" marB="75565" anchor="t">
                    <a:lnL w="12700" cap="flat" cmpd="sng" algn="ctr">
                      <a:solidFill>
                        <a:srgbClr val="C4BCB6"/>
                      </a:solidFill>
                      <a:prstDash val="solid"/>
                      <a:round/>
                      <a:headEnd type="none" w="med" len="med"/>
                      <a:tailEnd type="none" w="med" len="med"/>
                    </a:lnL>
                    <a:lnR w="12700" cap="flat" cmpd="sng" algn="ctr">
                      <a:solidFill>
                        <a:srgbClr val="C4BCB6"/>
                      </a:solidFill>
                      <a:prstDash val="solid"/>
                      <a:round/>
                      <a:headEnd type="none" w="med" len="med"/>
                      <a:tailEnd type="none" w="med" len="med"/>
                    </a:lnR>
                    <a:lnT w="12700" cap="flat" cmpd="sng" algn="ctr">
                      <a:solidFill>
                        <a:srgbClr val="B6AFA9"/>
                      </a:solidFill>
                      <a:prstDash val="solid"/>
                      <a:round/>
                      <a:headEnd type="none" w="med" len="med"/>
                      <a:tailEnd type="none" w="med" len="med"/>
                    </a:lnT>
                    <a:lnB w="12700" cap="flat" cmpd="sng" algn="ctr">
                      <a:solidFill>
                        <a:srgbClr val="C4BCB6"/>
                      </a:solidFill>
                      <a:prstDash val="solid"/>
                      <a:round/>
                      <a:headEnd type="none" w="med" len="med"/>
                      <a:tailEnd type="none" w="med" len="med"/>
                    </a:lnB>
                  </a:tcPr>
                </a:tc>
                <a:tc>
                  <a:txBody>
                    <a:bodyPr/>
                    <a:lstStyle/>
                    <a:p>
                      <a:pPr algn="r" indent="0" marL="0">
                        <a:lnSpc>
                          <a:spcPts val="2380"/>
                        </a:lnSpc>
                        <a:buNone/>
                      </a:pPr>
                      <a:r>
                        <a:rPr lang="en-US" sz="1700" dirty="0">
                          <a:solidFill>
                            <a:srgbClr val="2A1A1E"/>
                          </a:solidFill>
                          <a:latin typeface="DM Sans" pitchFamily="34" charset="0"/>
                          <a:ea typeface="DM Sans" pitchFamily="34" charset="-122"/>
                          <a:cs typeface="DM Sans" pitchFamily="34" charset="-120"/>
                        </a:rPr>
                        <a:t>3.95 million Suns</a:t>
                      </a:r>
                      <a:endParaRPr lang="en-US" sz="1700" dirty="0">
                        <a:latin typeface="DM Sans" charset="0"/>
                        <a:ea typeface="DM Sans" charset="0"/>
                        <a:cs typeface="DM Sans" charset="0"/>
                      </a:endParaRPr>
                    </a:p>
                  </a:txBody>
                  <a:tcPr marL="75565" marR="75565" marT="75565" marB="75565" anchor="t">
                    <a:lnL w="12700" cap="flat" cmpd="sng" algn="ctr">
                      <a:solidFill>
                        <a:srgbClr val="C4BCB6"/>
                      </a:solidFill>
                      <a:prstDash val="solid"/>
                      <a:round/>
                      <a:headEnd type="none" w="med" len="med"/>
                      <a:tailEnd type="none" w="med" len="med"/>
                    </a:lnL>
                    <a:lnR w="12700" cap="flat" cmpd="sng" algn="ctr">
                      <a:solidFill>
                        <a:srgbClr val="C4BCB6"/>
                      </a:solidFill>
                      <a:prstDash val="solid"/>
                      <a:round/>
                      <a:headEnd type="none" w="med" len="med"/>
                      <a:tailEnd type="none" w="med" len="med"/>
                    </a:lnR>
                    <a:lnT w="12700" cap="flat" cmpd="sng" algn="ctr">
                      <a:solidFill>
                        <a:srgbClr val="B6AFA9"/>
                      </a:solidFill>
                      <a:prstDash val="solid"/>
                      <a:round/>
                      <a:headEnd type="none" w="med" len="med"/>
                      <a:tailEnd type="none" w="med" len="med"/>
                    </a:lnT>
                    <a:lnB w="12700" cap="flat" cmpd="sng" algn="ctr">
                      <a:solidFill>
                        <a:srgbClr val="C4BCB6"/>
                      </a:solidFill>
                      <a:prstDash val="solid"/>
                      <a:round/>
                      <a:headEnd type="none" w="med" len="med"/>
                      <a:tailEnd type="none" w="med" len="med"/>
                    </a:lnB>
                  </a:tcPr>
                </a:tc>
              </a:tr>
              <a:tr h="765810">
                <a:tc>
                  <a:txBody>
                    <a:bodyPr/>
                    <a:lstStyle/>
                    <a:p>
                      <a:pPr indent="0" marL="0">
                        <a:lnSpc>
                          <a:spcPts val="2380"/>
                        </a:lnSpc>
                        <a:buNone/>
                      </a:pPr>
                      <a:r>
                        <a:rPr lang="en-US" sz="1700" dirty="0">
                          <a:solidFill>
                            <a:srgbClr val="2A1A1E"/>
                          </a:solidFill>
                          <a:latin typeface="DM Sans" pitchFamily="34" charset="0"/>
                          <a:ea typeface="DM Sans" pitchFamily="34" charset="-122"/>
                          <a:cs typeface="DM Sans" pitchFamily="34" charset="-120"/>
                        </a:rPr>
                        <a:t>Star orbits, VLTI telescope</a:t>
                      </a:r>
                      <a:endParaRPr lang="en-US" sz="1700" dirty="0">
                        <a:latin typeface="DM Sans" charset="0"/>
                        <a:ea typeface="DM Sans" charset="0"/>
                        <a:cs typeface="DM Sans" charset="0"/>
                      </a:endParaRPr>
                    </a:p>
                  </a:txBody>
                  <a:tcPr marL="75565" marR="75565" marT="75565" marB="75565" anchor="t">
                    <a:lnL w="12700" cap="flat" cmpd="sng" algn="ctr">
                      <a:solidFill>
                        <a:srgbClr val="C4BCB6"/>
                      </a:solidFill>
                      <a:prstDash val="solid"/>
                      <a:round/>
                      <a:headEnd type="none" w="med" len="med"/>
                      <a:tailEnd type="none" w="med" len="med"/>
                    </a:lnL>
                    <a:lnR w="12700" cap="flat" cmpd="sng" algn="ctr">
                      <a:solidFill>
                        <a:srgbClr val="C4BCB6"/>
                      </a:solidFill>
                      <a:prstDash val="solid"/>
                      <a:round/>
                      <a:headEnd type="none" w="med" len="med"/>
                      <a:tailEnd type="none" w="med" len="med"/>
                    </a:lnR>
                    <a:lnT w="12700" cap="flat" cmpd="sng" algn="ctr">
                      <a:solidFill>
                        <a:srgbClr val="C4BCB6"/>
                      </a:solidFill>
                      <a:prstDash val="solid"/>
                      <a:round/>
                      <a:headEnd type="none" w="med" len="med"/>
                      <a:tailEnd type="none" w="med" len="med"/>
                    </a:lnT>
                    <a:lnB w="12700" cap="flat" cmpd="sng" algn="ctr">
                      <a:solidFill>
                        <a:srgbClr val="C4BCB6"/>
                      </a:solidFill>
                      <a:prstDash val="solid"/>
                      <a:round/>
                      <a:headEnd type="none" w="med" len="med"/>
                      <a:tailEnd type="none" w="med" len="med"/>
                    </a:lnB>
                  </a:tcPr>
                </a:tc>
                <a:tc>
                  <a:txBody>
                    <a:bodyPr/>
                    <a:lstStyle/>
                    <a:p>
                      <a:pPr algn="r" indent="0" marL="0">
                        <a:lnSpc>
                          <a:spcPts val="2380"/>
                        </a:lnSpc>
                        <a:buNone/>
                      </a:pPr>
                      <a:r>
                        <a:rPr lang="en-US" sz="1700" dirty="0">
                          <a:solidFill>
                            <a:srgbClr val="2A1A1E"/>
                          </a:solidFill>
                          <a:latin typeface="DM Sans" pitchFamily="34" charset="0"/>
                          <a:ea typeface="DM Sans" pitchFamily="34" charset="-122"/>
                          <a:cs typeface="DM Sans" pitchFamily="34" charset="-120"/>
                        </a:rPr>
                        <a:t>4.30 million Suns</a:t>
                      </a:r>
                      <a:endParaRPr lang="en-US" sz="1700" dirty="0">
                        <a:latin typeface="DM Sans" charset="0"/>
                        <a:ea typeface="DM Sans" charset="0"/>
                        <a:cs typeface="DM Sans" charset="0"/>
                      </a:endParaRPr>
                    </a:p>
                  </a:txBody>
                  <a:tcPr marL="75565" marR="75565" marT="75565" marB="75565" anchor="t">
                    <a:lnL w="12700" cap="flat" cmpd="sng" algn="ctr">
                      <a:solidFill>
                        <a:srgbClr val="C4BCB6"/>
                      </a:solidFill>
                      <a:prstDash val="solid"/>
                      <a:round/>
                      <a:headEnd type="none" w="med" len="med"/>
                      <a:tailEnd type="none" w="med" len="med"/>
                    </a:lnL>
                    <a:lnR w="12700" cap="flat" cmpd="sng" algn="ctr">
                      <a:solidFill>
                        <a:srgbClr val="C4BCB6"/>
                      </a:solidFill>
                      <a:prstDash val="solid"/>
                      <a:round/>
                      <a:headEnd type="none" w="med" len="med"/>
                      <a:tailEnd type="none" w="med" len="med"/>
                    </a:lnR>
                    <a:lnT w="12700" cap="flat" cmpd="sng" algn="ctr">
                      <a:solidFill>
                        <a:srgbClr val="C4BCB6"/>
                      </a:solidFill>
                      <a:prstDash val="solid"/>
                      <a:round/>
                      <a:headEnd type="none" w="med" len="med"/>
                      <a:tailEnd type="none" w="med" len="med"/>
                    </a:lnT>
                    <a:lnB w="12700" cap="flat" cmpd="sng" algn="ctr">
                      <a:solidFill>
                        <a:srgbClr val="C4BCB6"/>
                      </a:solidFill>
                      <a:prstDash val="solid"/>
                      <a:round/>
                      <a:headEnd type="none" w="med" len="med"/>
                      <a:tailEnd type="none" w="med" len="med"/>
                    </a:lnB>
                  </a:tcPr>
                </a:tc>
              </a:tr>
              <a:tr h="463550">
                <a:tc>
                  <a:txBody>
                    <a:bodyPr/>
                    <a:lstStyle/>
                    <a:p>
                      <a:pPr indent="0" marL="0">
                        <a:lnSpc>
                          <a:spcPts val="2380"/>
                        </a:lnSpc>
                        <a:buNone/>
                      </a:pPr>
                      <a:r>
                        <a:rPr lang="en-US" sz="1700" dirty="0">
                          <a:solidFill>
                            <a:srgbClr val="2A1A1E"/>
                          </a:solidFill>
                          <a:latin typeface="DM Sans" pitchFamily="34" charset="0"/>
                          <a:ea typeface="DM Sans" pitchFamily="34" charset="-122"/>
                          <a:cs typeface="DM Sans" pitchFamily="34" charset="-120"/>
                        </a:rPr>
                        <a:t>EHT image, shadow fit</a:t>
                      </a:r>
                      <a:endParaRPr lang="en-US" sz="1700" dirty="0">
                        <a:latin typeface="DM Sans" charset="0"/>
                        <a:ea typeface="DM Sans" charset="0"/>
                        <a:cs typeface="DM Sans" charset="0"/>
                      </a:endParaRPr>
                    </a:p>
                  </a:txBody>
                  <a:tcPr marL="75565" marR="75565" marT="75565" marB="75565" anchor="t">
                    <a:lnL w="12700" cap="flat" cmpd="sng" algn="ctr">
                      <a:solidFill>
                        <a:srgbClr val="C4BCB6"/>
                      </a:solidFill>
                      <a:prstDash val="solid"/>
                      <a:round/>
                      <a:headEnd type="none" w="med" len="med"/>
                      <a:tailEnd type="none" w="med" len="med"/>
                    </a:lnL>
                    <a:lnR w="12700" cap="flat" cmpd="sng" algn="ctr">
                      <a:solidFill>
                        <a:srgbClr val="C4BCB6"/>
                      </a:solidFill>
                      <a:prstDash val="solid"/>
                      <a:round/>
                      <a:headEnd type="none" w="med" len="med"/>
                      <a:tailEnd type="none" w="med" len="med"/>
                    </a:lnR>
                    <a:lnT w="12700" cap="flat" cmpd="sng" algn="ctr">
                      <a:solidFill>
                        <a:srgbClr val="C4BCB6"/>
                      </a:solidFill>
                      <a:prstDash val="solid"/>
                      <a:round/>
                      <a:headEnd type="none" w="med" len="med"/>
                      <a:tailEnd type="none" w="med" len="med"/>
                    </a:lnT>
                    <a:lnB w="12700" cap="flat" cmpd="sng" algn="ctr">
                      <a:solidFill>
                        <a:srgbClr val="C4BCB6"/>
                      </a:solidFill>
                      <a:prstDash val="solid"/>
                      <a:round/>
                      <a:headEnd type="none" w="med" len="med"/>
                      <a:tailEnd type="none" w="med" len="med"/>
                    </a:lnB>
                  </a:tcPr>
                </a:tc>
                <a:tc>
                  <a:txBody>
                    <a:bodyPr/>
                    <a:lstStyle/>
                    <a:p>
                      <a:pPr algn="r" indent="0" marL="0">
                        <a:lnSpc>
                          <a:spcPts val="2380"/>
                        </a:lnSpc>
                        <a:buNone/>
                      </a:pPr>
                      <a:r>
                        <a:rPr lang="en-US" sz="1700" dirty="0">
                          <a:solidFill>
                            <a:srgbClr val="2A1A1E"/>
                          </a:solidFill>
                          <a:latin typeface="DM Sans" pitchFamily="34" charset="0"/>
                          <a:ea typeface="DM Sans" pitchFamily="34" charset="-122"/>
                          <a:cs typeface="DM Sans" pitchFamily="34" charset="-120"/>
                        </a:rPr>
                        <a:t>matches both</a:t>
                      </a:r>
                      <a:endParaRPr lang="en-US" sz="1700" dirty="0">
                        <a:latin typeface="DM Sans" charset="0"/>
                        <a:ea typeface="DM Sans" charset="0"/>
                        <a:cs typeface="DM Sans" charset="0"/>
                      </a:endParaRPr>
                    </a:p>
                  </a:txBody>
                  <a:tcPr marL="75565" marR="75565" marT="75565" marB="75565" anchor="t">
                    <a:lnL w="12700" cap="flat" cmpd="sng" algn="ctr">
                      <a:solidFill>
                        <a:srgbClr val="C4BCB6"/>
                      </a:solidFill>
                      <a:prstDash val="solid"/>
                      <a:round/>
                      <a:headEnd type="none" w="med" len="med"/>
                      <a:tailEnd type="none" w="med" len="med"/>
                    </a:lnL>
                    <a:lnR w="12700" cap="flat" cmpd="sng" algn="ctr">
                      <a:solidFill>
                        <a:srgbClr val="C4BCB6"/>
                      </a:solidFill>
                      <a:prstDash val="solid"/>
                      <a:round/>
                      <a:headEnd type="none" w="med" len="med"/>
                      <a:tailEnd type="none" w="med" len="med"/>
                    </a:lnR>
                    <a:lnT w="12700" cap="flat" cmpd="sng" algn="ctr">
                      <a:solidFill>
                        <a:srgbClr val="C4BCB6"/>
                      </a:solidFill>
                      <a:prstDash val="solid"/>
                      <a:round/>
                      <a:headEnd type="none" w="med" len="med"/>
                      <a:tailEnd type="none" w="med" len="med"/>
                    </a:lnT>
                    <a:lnB w="12700" cap="flat" cmpd="sng" algn="ctr">
                      <a:solidFill>
                        <a:srgbClr val="C4BCB6"/>
                      </a:solidFill>
                      <a:prstDash val="solid"/>
                      <a:round/>
                      <a:headEnd type="none" w="med" len="med"/>
                      <a:tailEnd type="none" w="med" len="med"/>
                    </a:lnB>
                  </a:tcPr>
                </a:tc>
              </a:tr>
            </a:tbl>
          </a:graphicData>
        </a:graphic>
      </p:graphicFrame>
      <p:sp>
        <p:nvSpPr>
          <p:cNvPr id="7" name="Text 4"/>
          <p:cNvSpPr/>
          <p:nvPr/>
        </p:nvSpPr>
        <p:spPr>
          <a:xfrm>
            <a:off x="812800" y="6238239"/>
            <a:ext cx="98107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5A5E"/>
                </a:solidFill>
                <a:latin typeface="DM Sans" pitchFamily="34" charset="0"/>
                <a:ea typeface="DM Sans" pitchFamily="34" charset="-122"/>
                <a:cs typeface="DM Sans" pitchFamily="34" charset="-120"/>
              </a:rPr>
              <a:t>Source: paper, Table 1. Two independent telescopes agree to within about 10%.</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4090D"/>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EF6A1A"/>
                </a:solidFill>
                <a:latin typeface="DM Sans" pitchFamily="34" charset="0"/>
                <a:ea typeface="DM Sans" pitchFamily="34" charset="-122"/>
                <a:cs typeface="DM Sans" pitchFamily="34" charset="-120"/>
              </a:rPr>
              <a:t>SCALE</a:t>
            </a:r>
            <a:endParaRPr lang="en-US" sz="1400" dirty="0"/>
          </a:p>
        </p:txBody>
      </p:sp>
      <p:sp>
        <p:nvSpPr>
          <p:cNvPr id="3" name="Text 1"/>
          <p:cNvSpPr/>
          <p:nvPr>
            <p:ph type="title"/>
          </p:nvPr>
        </p:nvSpPr>
        <p:spPr>
          <a:xfrm>
            <a:off x="812800" y="1188721"/>
            <a:ext cx="9810750" cy="612140"/>
          </a:xfrm>
          <a:prstGeom prst="rect">
            <a:avLst/>
          </a:prstGeom>
          <a:noFill/>
          <a:ln/>
        </p:spPr>
        <p:txBody>
          <a:bodyPr wrap="square" lIns="0" tIns="0" rIns="0" bIns="0" rtlCol="0" anchor="t">
            <a:normAutofit/>
          </a:bodyPr>
          <a:lstStyle/>
          <a:p>
            <a:pPr algn="l" indent="0" marL="0">
              <a:lnSpc>
                <a:spcPts val="4620"/>
              </a:lnSpc>
              <a:buNone/>
            </a:pPr>
            <a:r>
              <a:rPr lang="en-US" sz="4400" b="1" i="0" dirty="0">
                <a:solidFill>
                  <a:srgbClr val="F6ECE4"/>
                </a:solidFill>
                <a:latin typeface="Bricolage Grotesque" pitchFamily="18" charset="0"/>
                <a:ea typeface="Bricolage Grotesque" pitchFamily="18" charset="-122"/>
                <a:cs typeface="Bricolage Grotesque" pitchFamily="18" charset="-120"/>
              </a:rPr>
              <a:t>A telescope as wide as the Earth</a:t>
            </a:r>
            <a:endParaRPr lang="en-US" sz="4400" dirty="0"/>
          </a:p>
        </p:txBody>
      </p:sp>
      <p:sp>
        <p:nvSpPr>
          <p:cNvPr id="4" name="Text 2"/>
          <p:cNvSpPr/>
          <p:nvPr/>
        </p:nvSpPr>
        <p:spPr>
          <a:xfrm>
            <a:off x="812800" y="1902461"/>
            <a:ext cx="9156700" cy="66548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D8C7BE"/>
                </a:solidFill>
                <a:latin typeface="DM Sans" pitchFamily="34" charset="0"/>
                <a:ea typeface="DM Sans" pitchFamily="34" charset="-122"/>
                <a:cs typeface="DM Sans" pitchFamily="34" charset="-120"/>
              </a:rPr>
              <a:t>One dish cannot see a ring this small. So radio telescopes on several continents observe together, and the planet becomes the lens.</a:t>
            </a:r>
            <a:endParaRPr lang="en-US" sz="1800" dirty="0"/>
          </a:p>
        </p:txBody>
      </p:sp>
      <p:sp>
        <p:nvSpPr>
          <p:cNvPr id="5" name="Shape 3"/>
          <p:cNvSpPr/>
          <p:nvPr/>
        </p:nvSpPr>
        <p:spPr>
          <a:xfrm>
            <a:off x="815975" y="3587114"/>
            <a:ext cx="2482850" cy="2251710"/>
          </a:xfrm>
          <a:prstGeom prst="roundRect">
            <a:avLst>
              <a:gd name="adj" fmla="val 4371"/>
            </a:avLst>
          </a:prstGeom>
          <a:solidFill>
            <a:srgbClr val="24161A"/>
          </a:solidFill>
          <a:ln w="6350">
            <a:solidFill>
              <a:srgbClr val="3B2A2F"/>
            </a:solidFill>
            <a:prstDash val="solid"/>
          </a:ln>
        </p:spPr>
      </p:sp>
      <p:sp>
        <p:nvSpPr>
          <p:cNvPr id="6" name="Text 4"/>
          <p:cNvSpPr/>
          <p:nvPr/>
        </p:nvSpPr>
        <p:spPr>
          <a:xfrm>
            <a:off x="1046480" y="3817621"/>
            <a:ext cx="2082495"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FFB347"/>
                </a:solidFill>
                <a:latin typeface="Bricolage Grotesque" pitchFamily="18" charset="0"/>
                <a:ea typeface="Bricolage Grotesque" pitchFamily="18" charset="-122"/>
                <a:cs typeface="Bricolage Grotesque" pitchFamily="18" charset="-120"/>
              </a:rPr>
              <a:t>8</a:t>
            </a:r>
            <a:endParaRPr lang="en-US" sz="4800" dirty="0"/>
          </a:p>
        </p:txBody>
      </p:sp>
      <p:sp>
        <p:nvSpPr>
          <p:cNvPr id="7" name="Text 5"/>
          <p:cNvSpPr/>
          <p:nvPr/>
        </p:nvSpPr>
        <p:spPr>
          <a:xfrm>
            <a:off x="1046480" y="4503421"/>
            <a:ext cx="2082495" cy="27305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F6ECE4"/>
                </a:solidFill>
                <a:latin typeface="DM Sans" pitchFamily="34" charset="0"/>
                <a:ea typeface="DM Sans" pitchFamily="34" charset="-122"/>
                <a:cs typeface="DM Sans" pitchFamily="34" charset="-120"/>
              </a:rPr>
              <a:t>telescopes</a:t>
            </a:r>
            <a:endParaRPr lang="en-US" sz="1500" dirty="0"/>
          </a:p>
        </p:txBody>
      </p:sp>
      <p:sp>
        <p:nvSpPr>
          <p:cNvPr id="8" name="Shape 6"/>
          <p:cNvSpPr/>
          <p:nvPr/>
        </p:nvSpPr>
        <p:spPr>
          <a:xfrm>
            <a:off x="3508375" y="3587114"/>
            <a:ext cx="2482850" cy="2251710"/>
          </a:xfrm>
          <a:prstGeom prst="roundRect">
            <a:avLst>
              <a:gd name="adj" fmla="val 4371"/>
            </a:avLst>
          </a:prstGeom>
          <a:solidFill>
            <a:srgbClr val="24161A"/>
          </a:solidFill>
          <a:ln w="6350">
            <a:solidFill>
              <a:srgbClr val="3B2A2F"/>
            </a:solidFill>
            <a:prstDash val="solid"/>
          </a:ln>
        </p:spPr>
      </p:sp>
      <p:sp>
        <p:nvSpPr>
          <p:cNvPr id="9" name="Text 7"/>
          <p:cNvSpPr/>
          <p:nvPr/>
        </p:nvSpPr>
        <p:spPr>
          <a:xfrm>
            <a:off x="3738880" y="3817621"/>
            <a:ext cx="2082495"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FFB347"/>
                </a:solidFill>
                <a:latin typeface="Bricolage Grotesque" pitchFamily="18" charset="0"/>
                <a:ea typeface="Bricolage Grotesque" pitchFamily="18" charset="-122"/>
                <a:cs typeface="Bricolage Grotesque" pitchFamily="18" charset="-120"/>
              </a:rPr>
              <a:t>6</a:t>
            </a:r>
            <a:endParaRPr lang="en-US" sz="4800" dirty="0"/>
          </a:p>
        </p:txBody>
      </p:sp>
      <p:sp>
        <p:nvSpPr>
          <p:cNvPr id="10" name="Text 8"/>
          <p:cNvSpPr/>
          <p:nvPr/>
        </p:nvSpPr>
        <p:spPr>
          <a:xfrm>
            <a:off x="3738880" y="4503421"/>
            <a:ext cx="2082495" cy="52070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F6ECE4"/>
                </a:solidFill>
                <a:latin typeface="DM Sans" pitchFamily="34" charset="0"/>
                <a:ea typeface="DM Sans" pitchFamily="34" charset="-122"/>
                <a:cs typeface="DM Sans" pitchFamily="34" charset="-120"/>
              </a:rPr>
              <a:t>locations, from Chile to the South Pole</a:t>
            </a:r>
            <a:endParaRPr lang="en-US" sz="1500" dirty="0"/>
          </a:p>
        </p:txBody>
      </p:sp>
      <p:sp>
        <p:nvSpPr>
          <p:cNvPr id="11" name="Shape 9"/>
          <p:cNvSpPr/>
          <p:nvPr/>
        </p:nvSpPr>
        <p:spPr>
          <a:xfrm>
            <a:off x="6200775" y="3587114"/>
            <a:ext cx="2482850" cy="2251710"/>
          </a:xfrm>
          <a:prstGeom prst="roundRect">
            <a:avLst>
              <a:gd name="adj" fmla="val 4371"/>
            </a:avLst>
          </a:prstGeom>
          <a:solidFill>
            <a:srgbClr val="24161A"/>
          </a:solidFill>
          <a:ln w="6350">
            <a:solidFill>
              <a:srgbClr val="3B2A2F"/>
            </a:solidFill>
            <a:prstDash val="solid"/>
          </a:ln>
        </p:spPr>
      </p:sp>
      <p:sp>
        <p:nvSpPr>
          <p:cNvPr id="12" name="Text 10"/>
          <p:cNvSpPr/>
          <p:nvPr/>
        </p:nvSpPr>
        <p:spPr>
          <a:xfrm>
            <a:off x="6431280" y="3817621"/>
            <a:ext cx="2082495" cy="12446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FFB347"/>
                </a:solidFill>
                <a:latin typeface="Bricolage Grotesque" pitchFamily="18" charset="0"/>
                <a:ea typeface="Bricolage Grotesque" pitchFamily="18" charset="-122"/>
                <a:cs typeface="Bricolage Grotesque" pitchFamily="18" charset="-120"/>
              </a:rPr>
              <a:t>1.3 mm</a:t>
            </a:r>
            <a:endParaRPr lang="en-US" sz="4800" dirty="0"/>
          </a:p>
        </p:txBody>
      </p:sp>
      <p:sp>
        <p:nvSpPr>
          <p:cNvPr id="13" name="Text 11"/>
          <p:cNvSpPr/>
          <p:nvPr/>
        </p:nvSpPr>
        <p:spPr>
          <a:xfrm>
            <a:off x="6431280" y="5113021"/>
            <a:ext cx="2082495" cy="52070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F6ECE4"/>
                </a:solidFill>
                <a:latin typeface="DM Sans" pitchFamily="34" charset="0"/>
                <a:ea typeface="DM Sans" pitchFamily="34" charset="-122"/>
                <a:cs typeface="DM Sans" pitchFamily="34" charset="-120"/>
              </a:rPr>
              <a:t>wavelength of the radio waves</a:t>
            </a:r>
            <a:endParaRPr lang="en-US" sz="1500" dirty="0"/>
          </a:p>
        </p:txBody>
      </p:sp>
      <p:sp>
        <p:nvSpPr>
          <p:cNvPr id="14" name="Shape 12"/>
          <p:cNvSpPr/>
          <p:nvPr/>
        </p:nvSpPr>
        <p:spPr>
          <a:xfrm>
            <a:off x="8893175" y="3587114"/>
            <a:ext cx="2482850" cy="2251710"/>
          </a:xfrm>
          <a:prstGeom prst="roundRect">
            <a:avLst>
              <a:gd name="adj" fmla="val 4371"/>
            </a:avLst>
          </a:prstGeom>
          <a:solidFill>
            <a:srgbClr val="24161A"/>
          </a:solidFill>
          <a:ln w="6350">
            <a:solidFill>
              <a:srgbClr val="3B2A2F"/>
            </a:solidFill>
            <a:prstDash val="solid"/>
          </a:ln>
        </p:spPr>
      </p:sp>
      <p:sp>
        <p:nvSpPr>
          <p:cNvPr id="15" name="Text 13"/>
          <p:cNvSpPr/>
          <p:nvPr/>
        </p:nvSpPr>
        <p:spPr>
          <a:xfrm>
            <a:off x="9123680" y="3817621"/>
            <a:ext cx="2082495"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FFB347"/>
                </a:solidFill>
                <a:latin typeface="Bricolage Grotesque" pitchFamily="18" charset="0"/>
                <a:ea typeface="Bricolage Grotesque" pitchFamily="18" charset="-122"/>
                <a:cs typeface="Bricolage Grotesque" pitchFamily="18" charset="-120"/>
              </a:rPr>
              <a:t>2017</a:t>
            </a:r>
            <a:endParaRPr lang="en-US" sz="4800" dirty="0"/>
          </a:p>
        </p:txBody>
      </p:sp>
      <p:sp>
        <p:nvSpPr>
          <p:cNvPr id="16" name="Text 14"/>
          <p:cNvSpPr/>
          <p:nvPr/>
        </p:nvSpPr>
        <p:spPr>
          <a:xfrm>
            <a:off x="9123680" y="4503421"/>
            <a:ext cx="2082495" cy="520700"/>
          </a:xfrm>
          <a:prstGeom prst="rect">
            <a:avLst/>
          </a:prstGeom>
          <a:noFill/>
          <a:ln/>
        </p:spPr>
        <p:txBody>
          <a:bodyPr wrap="square" lIns="0" tIns="0" rIns="0" bIns="0" rtlCol="0" anchor="t">
            <a:normAutofit/>
          </a:bodyPr>
          <a:lstStyle/>
          <a:p>
            <a:pPr algn="l" indent="0" marL="0">
              <a:lnSpc>
                <a:spcPts val="1950"/>
              </a:lnSpc>
              <a:buNone/>
            </a:pPr>
            <a:r>
              <a:rPr lang="en-US" sz="1500" dirty="0">
                <a:solidFill>
                  <a:srgbClr val="F6ECE4"/>
                </a:solidFill>
                <a:latin typeface="DM Sans" pitchFamily="34" charset="0"/>
                <a:ea typeface="DM Sans" pitchFamily="34" charset="-122"/>
                <a:cs typeface="DM Sans" pitchFamily="34" charset="-120"/>
              </a:rPr>
              <a:t>observing run, April 5 to 11</a:t>
            </a:r>
            <a:endParaRPr lang="en-US" sz="1500" dirty="0"/>
          </a:p>
        </p:txBody>
      </p:sp>
      <p:sp>
        <p:nvSpPr>
          <p:cNvPr id="17" name="Text 15"/>
          <p:cNvSpPr/>
          <p:nvPr/>
        </p:nvSpPr>
        <p:spPr>
          <a:xfrm>
            <a:off x="812800" y="6238239"/>
            <a:ext cx="98107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6A49C"/>
                </a:solidFill>
                <a:latin typeface="DM Sans" pitchFamily="34" charset="0"/>
                <a:ea typeface="DM Sans" pitchFamily="34" charset="-122"/>
                <a:cs typeface="DM Sans" pitchFamily="34" charset="-120"/>
              </a:rPr>
              <a:t>Source: paper, abstract and Section 3. The best day for Sgr A* was April 7.</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F1115"/>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EF6A1A"/>
                </a:solidFill>
                <a:latin typeface="DM Sans" pitchFamily="34" charset="0"/>
                <a:ea typeface="DM Sans" pitchFamily="34" charset="-122"/>
                <a:cs typeface="DM Sans" pitchFamily="34" charset="-120"/>
              </a:rPr>
              <a:t>MAKING THE PICTURE</a:t>
            </a:r>
            <a:endParaRPr lang="en-US" sz="1400" dirty="0"/>
          </a:p>
        </p:txBody>
      </p:sp>
      <p:sp>
        <p:nvSpPr>
          <p:cNvPr id="3" name="Text 1"/>
          <p:cNvSpPr/>
          <p:nvPr>
            <p:ph type="title"/>
          </p:nvPr>
        </p:nvSpPr>
        <p:spPr>
          <a:xfrm>
            <a:off x="812800" y="1188721"/>
            <a:ext cx="9810750" cy="612140"/>
          </a:xfrm>
          <a:prstGeom prst="rect">
            <a:avLst/>
          </a:prstGeom>
          <a:noFill/>
          <a:ln/>
        </p:spPr>
        <p:txBody>
          <a:bodyPr wrap="square" lIns="0" tIns="0" rIns="0" bIns="0" rtlCol="0" anchor="t">
            <a:normAutofit/>
          </a:bodyPr>
          <a:lstStyle/>
          <a:p>
            <a:pPr algn="l" indent="0" marL="0">
              <a:lnSpc>
                <a:spcPts val="4620"/>
              </a:lnSpc>
              <a:buNone/>
            </a:pPr>
            <a:r>
              <a:rPr lang="en-US" sz="4400" b="1" i="0" dirty="0">
                <a:solidFill>
                  <a:srgbClr val="F6ECE4"/>
                </a:solidFill>
                <a:latin typeface="Bricolage Grotesque" pitchFamily="18" charset="0"/>
                <a:ea typeface="Bricolage Grotesque" pitchFamily="18" charset="-122"/>
                <a:cs typeface="Bricolage Grotesque" pitchFamily="18" charset="-120"/>
              </a:rPr>
              <a:t>From raw signals to an image</a:t>
            </a:r>
            <a:endParaRPr lang="en-US" sz="4400" dirty="0"/>
          </a:p>
        </p:txBody>
      </p:sp>
      <p:sp>
        <p:nvSpPr>
          <p:cNvPr id="4" name="Shape 2"/>
          <p:cNvSpPr/>
          <p:nvPr/>
        </p:nvSpPr>
        <p:spPr>
          <a:xfrm>
            <a:off x="815975" y="2531746"/>
            <a:ext cx="3380317" cy="2251710"/>
          </a:xfrm>
          <a:prstGeom prst="roundRect">
            <a:avLst>
              <a:gd name="adj" fmla="val 4371"/>
            </a:avLst>
          </a:prstGeom>
          <a:solidFill>
            <a:srgbClr val="2A1A1E"/>
          </a:solidFill>
          <a:ln w="6350">
            <a:solidFill>
              <a:srgbClr val="4A363B"/>
            </a:solidFill>
            <a:prstDash val="solid"/>
          </a:ln>
        </p:spPr>
      </p:sp>
      <p:sp>
        <p:nvSpPr>
          <p:cNvPr id="5" name="Text 3"/>
          <p:cNvSpPr/>
          <p:nvPr/>
        </p:nvSpPr>
        <p:spPr>
          <a:xfrm>
            <a:off x="1097280" y="2813050"/>
            <a:ext cx="2902238" cy="421640"/>
          </a:xfrm>
          <a:prstGeom prst="rect">
            <a:avLst/>
          </a:prstGeom>
          <a:noFill/>
          <a:ln/>
        </p:spPr>
        <p:txBody>
          <a:bodyPr wrap="square" lIns="0" tIns="0" rIns="0" bIns="0" rtlCol="0" anchor="t">
            <a:normAutofit/>
          </a:bodyPr>
          <a:lstStyle/>
          <a:p>
            <a:pPr algn="l" indent="0" marL="0">
              <a:lnSpc>
                <a:spcPts val="3120"/>
              </a:lnSpc>
              <a:buNone/>
            </a:pPr>
            <a:r>
              <a:rPr lang="en-US" sz="2600" b="1" dirty="0">
                <a:solidFill>
                  <a:srgbClr val="FFB347"/>
                </a:solidFill>
                <a:latin typeface="Bricolage Grotesque" pitchFamily="18" charset="0"/>
                <a:ea typeface="Bricolage Grotesque" pitchFamily="18" charset="-122"/>
                <a:cs typeface="Bricolage Grotesque" pitchFamily="18" charset="-120"/>
              </a:rPr>
              <a:t>Record</a:t>
            </a:r>
            <a:endParaRPr lang="en-US" sz="2600" dirty="0"/>
          </a:p>
        </p:txBody>
      </p:sp>
      <p:sp>
        <p:nvSpPr>
          <p:cNvPr id="6" name="Text 4"/>
          <p:cNvSpPr/>
          <p:nvPr/>
        </p:nvSpPr>
        <p:spPr>
          <a:xfrm>
            <a:off x="1097280" y="3336289"/>
            <a:ext cx="2902238" cy="1191260"/>
          </a:xfrm>
          <a:prstGeom prst="rect">
            <a:avLst/>
          </a:prstGeom>
          <a:noFill/>
          <a:ln/>
        </p:spPr>
        <p:txBody>
          <a:bodyPr wrap="square" lIns="0" tIns="0" rIns="0" bIns="0" rtlCol="0" anchor="t">
            <a:normAutofit/>
          </a:bodyPr>
          <a:lstStyle/>
          <a:p>
            <a:pPr algn="l" indent="0" marL="0">
              <a:lnSpc>
                <a:spcPts val="2295"/>
              </a:lnSpc>
              <a:buNone/>
            </a:pPr>
            <a:r>
              <a:rPr lang="en-US" sz="1700" dirty="0">
                <a:solidFill>
                  <a:srgbClr val="F6ECE4"/>
                </a:solidFill>
                <a:latin typeface="DM Sans" pitchFamily="34" charset="0"/>
                <a:ea typeface="DM Sans" pitchFamily="34" charset="-122"/>
                <a:cs typeface="DM Sans" pitchFamily="34" charset="-120"/>
              </a:rPr>
              <a:t>Each telescope records 32 GB every second. Atomic clocks stamp the exact time.</a:t>
            </a:r>
            <a:endParaRPr lang="en-US" sz="1700" dirty="0"/>
          </a:p>
        </p:txBody>
      </p:sp>
      <p:sp>
        <p:nvSpPr>
          <p:cNvPr id="7" name="Shape 5"/>
          <p:cNvSpPr/>
          <p:nvPr/>
        </p:nvSpPr>
        <p:spPr>
          <a:xfrm>
            <a:off x="4405842" y="2531746"/>
            <a:ext cx="3380317" cy="2251710"/>
          </a:xfrm>
          <a:prstGeom prst="roundRect">
            <a:avLst>
              <a:gd name="adj" fmla="val 4371"/>
            </a:avLst>
          </a:prstGeom>
          <a:solidFill>
            <a:srgbClr val="2A1A1E"/>
          </a:solidFill>
          <a:ln w="6350">
            <a:solidFill>
              <a:srgbClr val="4A363B"/>
            </a:solidFill>
            <a:prstDash val="solid"/>
          </a:ln>
        </p:spPr>
      </p:sp>
      <p:sp>
        <p:nvSpPr>
          <p:cNvPr id="8" name="Text 6"/>
          <p:cNvSpPr/>
          <p:nvPr/>
        </p:nvSpPr>
        <p:spPr>
          <a:xfrm>
            <a:off x="4687146" y="2813050"/>
            <a:ext cx="2902238" cy="421640"/>
          </a:xfrm>
          <a:prstGeom prst="rect">
            <a:avLst/>
          </a:prstGeom>
          <a:noFill/>
          <a:ln/>
        </p:spPr>
        <p:txBody>
          <a:bodyPr wrap="square" lIns="0" tIns="0" rIns="0" bIns="0" rtlCol="0" anchor="t">
            <a:normAutofit/>
          </a:bodyPr>
          <a:lstStyle/>
          <a:p>
            <a:pPr algn="l" indent="0" marL="0">
              <a:lnSpc>
                <a:spcPts val="3120"/>
              </a:lnSpc>
              <a:buNone/>
            </a:pPr>
            <a:r>
              <a:rPr lang="en-US" sz="2600" b="1" dirty="0">
                <a:solidFill>
                  <a:srgbClr val="FFB347"/>
                </a:solidFill>
                <a:latin typeface="Bricolage Grotesque" pitchFamily="18" charset="0"/>
                <a:ea typeface="Bricolage Grotesque" pitchFamily="18" charset="-122"/>
                <a:cs typeface="Bricolage Grotesque" pitchFamily="18" charset="-120"/>
              </a:rPr>
              <a:t>Combine</a:t>
            </a:r>
            <a:endParaRPr lang="en-US" sz="2600" dirty="0"/>
          </a:p>
        </p:txBody>
      </p:sp>
      <p:sp>
        <p:nvSpPr>
          <p:cNvPr id="9" name="Text 7"/>
          <p:cNvSpPr/>
          <p:nvPr/>
        </p:nvSpPr>
        <p:spPr>
          <a:xfrm>
            <a:off x="4687146" y="3336289"/>
            <a:ext cx="2902238" cy="899795"/>
          </a:xfrm>
          <a:prstGeom prst="rect">
            <a:avLst/>
          </a:prstGeom>
          <a:noFill/>
          <a:ln/>
        </p:spPr>
        <p:txBody>
          <a:bodyPr wrap="square" lIns="0" tIns="0" rIns="0" bIns="0" rtlCol="0" anchor="t">
            <a:normAutofit/>
          </a:bodyPr>
          <a:lstStyle/>
          <a:p>
            <a:pPr algn="l" indent="0" marL="0">
              <a:lnSpc>
                <a:spcPts val="2295"/>
              </a:lnSpc>
              <a:buNone/>
            </a:pPr>
            <a:r>
              <a:rPr lang="en-US" sz="1700" dirty="0">
                <a:solidFill>
                  <a:srgbClr val="F6ECE4"/>
                </a:solidFill>
                <a:latin typeface="DM Sans" pitchFamily="34" charset="0"/>
                <a:ea typeface="DM Sans" pitchFamily="34" charset="-122"/>
                <a:cs typeface="DM Sans" pitchFamily="34" charset="-120"/>
              </a:rPr>
              <a:t>Recordings from every site are lined up in time and compared pair by pair.</a:t>
            </a:r>
            <a:endParaRPr lang="en-US" sz="1700" dirty="0"/>
          </a:p>
        </p:txBody>
      </p:sp>
      <p:sp>
        <p:nvSpPr>
          <p:cNvPr id="10" name="Shape 8"/>
          <p:cNvSpPr/>
          <p:nvPr/>
        </p:nvSpPr>
        <p:spPr>
          <a:xfrm>
            <a:off x="7995708" y="2531746"/>
            <a:ext cx="3380317" cy="2251710"/>
          </a:xfrm>
          <a:prstGeom prst="roundRect">
            <a:avLst>
              <a:gd name="adj" fmla="val 4371"/>
            </a:avLst>
          </a:prstGeom>
          <a:solidFill>
            <a:srgbClr val="2A1A1E"/>
          </a:solidFill>
          <a:ln w="6350">
            <a:solidFill>
              <a:srgbClr val="4A363B"/>
            </a:solidFill>
            <a:prstDash val="solid"/>
          </a:ln>
        </p:spPr>
      </p:sp>
      <p:sp>
        <p:nvSpPr>
          <p:cNvPr id="11" name="Text 9"/>
          <p:cNvSpPr/>
          <p:nvPr/>
        </p:nvSpPr>
        <p:spPr>
          <a:xfrm>
            <a:off x="8277013" y="2813050"/>
            <a:ext cx="2902238" cy="421640"/>
          </a:xfrm>
          <a:prstGeom prst="rect">
            <a:avLst/>
          </a:prstGeom>
          <a:noFill/>
          <a:ln/>
        </p:spPr>
        <p:txBody>
          <a:bodyPr wrap="square" lIns="0" tIns="0" rIns="0" bIns="0" rtlCol="0" anchor="t">
            <a:normAutofit/>
          </a:bodyPr>
          <a:lstStyle/>
          <a:p>
            <a:pPr algn="l" indent="0" marL="0">
              <a:lnSpc>
                <a:spcPts val="3120"/>
              </a:lnSpc>
              <a:buNone/>
            </a:pPr>
            <a:r>
              <a:rPr lang="en-US" sz="2600" b="1" dirty="0">
                <a:solidFill>
                  <a:srgbClr val="FFB347"/>
                </a:solidFill>
                <a:latin typeface="Bricolage Grotesque" pitchFamily="18" charset="0"/>
                <a:ea typeface="Bricolage Grotesque" pitchFamily="18" charset="-122"/>
                <a:cs typeface="Bricolage Grotesque" pitchFamily="18" charset="-120"/>
              </a:rPr>
              <a:t>Rebuild</a:t>
            </a:r>
            <a:endParaRPr lang="en-US" sz="2600" dirty="0"/>
          </a:p>
        </p:txBody>
      </p:sp>
      <p:sp>
        <p:nvSpPr>
          <p:cNvPr id="12" name="Text 10"/>
          <p:cNvSpPr/>
          <p:nvPr/>
        </p:nvSpPr>
        <p:spPr>
          <a:xfrm>
            <a:off x="8277013" y="3336289"/>
            <a:ext cx="2902238" cy="1191260"/>
          </a:xfrm>
          <a:prstGeom prst="rect">
            <a:avLst/>
          </a:prstGeom>
          <a:noFill/>
          <a:ln/>
        </p:spPr>
        <p:txBody>
          <a:bodyPr wrap="square" lIns="0" tIns="0" rIns="0" bIns="0" rtlCol="0" anchor="t">
            <a:normAutofit/>
          </a:bodyPr>
          <a:lstStyle/>
          <a:p>
            <a:pPr algn="l" indent="0" marL="0">
              <a:lnSpc>
                <a:spcPts val="2295"/>
              </a:lnSpc>
              <a:buNone/>
            </a:pPr>
            <a:r>
              <a:rPr lang="en-US" sz="1700" dirty="0">
                <a:solidFill>
                  <a:srgbClr val="F6ECE4"/>
                </a:solidFill>
                <a:latin typeface="DM Sans" pitchFamily="34" charset="0"/>
                <a:ea typeface="DM Sans" pitchFamily="34" charset="-122"/>
                <a:cs typeface="DM Sans" pitchFamily="34" charset="-120"/>
              </a:rPr>
              <a:t>Algorithms fill the gaps between the measurements. Several methods are compared.</a:t>
            </a:r>
            <a:endParaRPr lang="en-US" sz="1700" dirty="0"/>
          </a:p>
        </p:txBody>
      </p:sp>
      <p:sp>
        <p:nvSpPr>
          <p:cNvPr id="13" name="Text 11"/>
          <p:cNvSpPr/>
          <p:nvPr/>
        </p:nvSpPr>
        <p:spPr>
          <a:xfrm>
            <a:off x="812800" y="5539739"/>
            <a:ext cx="9810750" cy="32766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F6ECE4"/>
                </a:solidFill>
                <a:latin typeface="DM Sans" pitchFamily="34" charset="0"/>
                <a:ea typeface="DM Sans" pitchFamily="34" charset="-122"/>
                <a:cs typeface="DM Sans" pitchFamily="34" charset="-120"/>
              </a:rPr>
              <a:t>The hard part:</a:t>
            </a:r>
            <a:r>
              <a:rPr lang="en-US" sz="1700" dirty="0">
                <a:solidFill>
                  <a:srgbClr val="D8C7BE"/>
                </a:solidFill>
                <a:latin typeface="DM Sans" pitchFamily="34" charset="0"/>
                <a:ea typeface="DM Sans" pitchFamily="34" charset="-122"/>
                <a:cs typeface="DM Sans" pitchFamily="34" charset="-120"/>
              </a:rPr>
              <a:t> Sgr A* flickers within minutes, so it will not hold still like a normal subject.</a:t>
            </a:r>
            <a:endParaRPr lang="en-US" sz="1700" dirty="0"/>
          </a:p>
        </p:txBody>
      </p:sp>
      <p:sp>
        <p:nvSpPr>
          <p:cNvPr id="14" name="Text 12"/>
          <p:cNvSpPr/>
          <p:nvPr/>
        </p:nvSpPr>
        <p:spPr>
          <a:xfrm>
            <a:off x="812800" y="6238239"/>
            <a:ext cx="98107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6A49C"/>
                </a:solidFill>
                <a:latin typeface="DM Sans" pitchFamily="34" charset="0"/>
                <a:ea typeface="DM Sans" pitchFamily="34" charset="-122"/>
                <a:cs typeface="DM Sans" pitchFamily="34" charset="-120"/>
              </a:rPr>
              <a:t>Source: paper, Sections 3 to 5. Data rate per fully equipped station: 32 GB per second.</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F6A1A"/>
        </a:solidFill>
      </p:bgPr>
    </p:bg>
    <p:spTree>
      <p:nvGrpSpPr>
        <p:cNvPr id="1" name=""/>
        <p:cNvGrpSpPr/>
        <p:nvPr/>
      </p:nvGrpSpPr>
      <p:grpSpPr>
        <a:xfrm>
          <a:off x="0" y="0"/>
          <a:ext cx="0" cy="0"/>
          <a:chOff x="0" y="0"/>
          <a:chExt cx="0" cy="0"/>
        </a:xfrm>
      </p:grpSpPr>
      <p:sp>
        <p:nvSpPr>
          <p:cNvPr id="2" name="Text 0"/>
          <p:cNvSpPr/>
          <p:nvPr/>
        </p:nvSpPr>
        <p:spPr>
          <a:xfrm>
            <a:off x="812800" y="13335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14090D"/>
                </a:solidFill>
                <a:latin typeface="DM Sans" pitchFamily="34" charset="0"/>
                <a:ea typeface="DM Sans" pitchFamily="34" charset="-122"/>
                <a:cs typeface="DM Sans" pitchFamily="34" charset="-120"/>
              </a:rPr>
              <a:t>THE RESULT</a:t>
            </a:r>
            <a:endParaRPr lang="en-US" sz="1400" dirty="0"/>
          </a:p>
        </p:txBody>
      </p:sp>
      <p:sp>
        <p:nvSpPr>
          <p:cNvPr id="3" name="Text 1"/>
          <p:cNvSpPr/>
          <p:nvPr>
            <p:ph type="title"/>
          </p:nvPr>
        </p:nvSpPr>
        <p:spPr>
          <a:xfrm>
            <a:off x="812800" y="1836421"/>
            <a:ext cx="9810750" cy="1579880"/>
          </a:xfrm>
          <a:prstGeom prst="rect">
            <a:avLst/>
          </a:prstGeom>
          <a:noFill/>
          <a:ln/>
        </p:spPr>
        <p:txBody>
          <a:bodyPr wrap="square" lIns="0" tIns="0" rIns="0" bIns="0" rtlCol="0" anchor="t">
            <a:normAutofit/>
          </a:bodyPr>
          <a:lstStyle/>
          <a:p>
            <a:pPr algn="l" indent="0" marL="0">
              <a:lnSpc>
                <a:spcPts val="6120"/>
              </a:lnSpc>
              <a:buNone/>
            </a:pPr>
            <a:r>
              <a:rPr lang="en-US" sz="6000" b="1" i="0" dirty="0">
                <a:solidFill>
                  <a:srgbClr val="14090D"/>
                </a:solidFill>
                <a:latin typeface="Bricolage Grotesque" pitchFamily="18" charset="0"/>
                <a:ea typeface="Bricolage Grotesque" pitchFamily="18" charset="-122"/>
                <a:cs typeface="Bricolage Grotesque" pitchFamily="18" charset="-120"/>
              </a:rPr>
              <a:t>The ring matches Einstein’s prediction</a:t>
            </a:r>
            <a:endParaRPr lang="en-US" sz="6000" dirty="0"/>
          </a:p>
        </p:txBody>
      </p:sp>
      <p:sp>
        <p:nvSpPr>
          <p:cNvPr id="4" name="Text 2"/>
          <p:cNvSpPr/>
          <p:nvPr/>
        </p:nvSpPr>
        <p:spPr>
          <a:xfrm>
            <a:off x="812800" y="3644900"/>
            <a:ext cx="9156700" cy="7366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14090D"/>
                </a:solidFill>
                <a:latin typeface="DM Sans" pitchFamily="34" charset="0"/>
                <a:ea typeface="DM Sans" pitchFamily="34" charset="-122"/>
                <a:cs typeface="DM Sans" pitchFamily="34" charset="-120"/>
              </a:rPr>
              <a:t>The image shows a ring 51.8 µas wide. The shadow predicted from the star-based mass is 48.7 µas. They agree.</a:t>
            </a:r>
            <a:endParaRPr lang="en-US" sz="2000" dirty="0"/>
          </a:p>
        </p:txBody>
      </p:sp>
      <p:sp>
        <p:nvSpPr>
          <p:cNvPr id="5" name="Text 3"/>
          <p:cNvSpPr/>
          <p:nvPr/>
        </p:nvSpPr>
        <p:spPr>
          <a:xfrm>
            <a:off x="812800" y="4610100"/>
            <a:ext cx="9156700" cy="7366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14090D"/>
                </a:solidFill>
                <a:latin typeface="DM Sans" pitchFamily="34" charset="0"/>
                <a:ea typeface="DM Sans" pitchFamily="34" charset="-122"/>
                <a:cs typeface="DM Sans" pitchFamily="34" charset="-120"/>
              </a:rPr>
              <a:t>Sgr A* is about 1,500 times lighter than the first imaged black hole, M87*, and both fit the same theory.</a:t>
            </a:r>
            <a:endParaRPr lang="en-US" sz="2000" dirty="0"/>
          </a:p>
        </p:txBody>
      </p:sp>
      <p:sp>
        <p:nvSpPr>
          <p:cNvPr id="6" name="Text 4"/>
          <p:cNvSpPr/>
          <p:nvPr/>
        </p:nvSpPr>
        <p:spPr>
          <a:xfrm>
            <a:off x="812800" y="6238242"/>
            <a:ext cx="98107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090D"/>
                </a:solidFill>
                <a:latin typeface="DM Sans" pitchFamily="34" charset="0"/>
                <a:ea typeface="DM Sans" pitchFamily="34" charset="-122"/>
                <a:cs typeface="DM Sans" pitchFamily="34" charset="-120"/>
              </a:rPr>
              <a:t>Source: paper, abstract, Table 1 and Section 7.</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ECE4"/>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B23D0B"/>
                </a:solidFill>
                <a:latin typeface="DM Sans" pitchFamily="34" charset="0"/>
                <a:ea typeface="DM Sans" pitchFamily="34" charset="-122"/>
                <a:cs typeface="DM Sans" pitchFamily="34" charset="-120"/>
              </a:rPr>
              <a:t>SOCIETY</a:t>
            </a:r>
            <a:endParaRPr lang="en-US" sz="1400" dirty="0"/>
          </a:p>
        </p:txBody>
      </p:sp>
      <p:sp>
        <p:nvSpPr>
          <p:cNvPr id="3" name="Text 1"/>
          <p:cNvSpPr/>
          <p:nvPr>
            <p:ph type="title"/>
          </p:nvPr>
        </p:nvSpPr>
        <p:spPr>
          <a:xfrm>
            <a:off x="812800" y="1188721"/>
            <a:ext cx="9810750" cy="1198880"/>
          </a:xfrm>
          <a:prstGeom prst="rect">
            <a:avLst/>
          </a:prstGeom>
          <a:noFill/>
          <a:ln/>
        </p:spPr>
        <p:txBody>
          <a:bodyPr wrap="square" lIns="0" tIns="0" rIns="0" bIns="0" rtlCol="0" anchor="t">
            <a:normAutofit/>
          </a:bodyPr>
          <a:lstStyle/>
          <a:p>
            <a:pPr algn="l" indent="0" marL="0">
              <a:lnSpc>
                <a:spcPts val="4620"/>
              </a:lnSpc>
              <a:buNone/>
            </a:pPr>
            <a:r>
              <a:rPr lang="en-US" sz="4400" b="1" i="0" dirty="0">
                <a:solidFill>
                  <a:srgbClr val="2A1A1E"/>
                </a:solidFill>
                <a:latin typeface="Bricolage Grotesque" pitchFamily="18" charset="0"/>
                <a:ea typeface="Bricolage Grotesque" pitchFamily="18" charset="-122"/>
                <a:cs typeface="Bricolage Grotesque" pitchFamily="18" charset="-120"/>
              </a:rPr>
              <a:t>What the technology does for everyday life</a:t>
            </a:r>
            <a:endParaRPr lang="en-US" sz="4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3220718"/>
          <a:ext cx="10556240" cy="2621280"/>
        </p:xfrm>
        <a:graphic>
          <a:graphicData uri="http://schemas.openxmlformats.org/drawingml/2006/table">
            <a:tbl>
              <a:tblPr/>
              <a:tblGrid>
                <a:gridCol w="4433621"/>
                <a:gridCol w="6122619"/>
              </a:tblGrid>
              <a:tr h="436880">
                <a:tc>
                  <a:txBody>
                    <a:bodyPr/>
                    <a:lstStyle/>
                    <a:p>
                      <a:pPr indent="0" marL="0">
                        <a:lnSpc>
                          <a:spcPts val="2240"/>
                        </a:lnSpc>
                        <a:buNone/>
                      </a:pPr>
                      <a:r>
                        <a:rPr lang="en-US" sz="1600" b="1" dirty="0">
                          <a:solidFill>
                            <a:srgbClr val="2A1A1E"/>
                          </a:solidFill>
                          <a:latin typeface="DM Sans" pitchFamily="34" charset="0"/>
                          <a:ea typeface="DM Sans" pitchFamily="34" charset="-122"/>
                          <a:cs typeface="DM Sans" pitchFamily="34" charset="-120"/>
                        </a:rPr>
                        <a:t>Used to see a black hole</a:t>
                      </a:r>
                      <a:endParaRPr lang="en-US" sz="1600" dirty="0">
                        <a:latin typeface="DM Sans" charset="0"/>
                        <a:ea typeface="DM Sans" charset="0"/>
                        <a:cs typeface="DM Sans" charset="0"/>
                      </a:endParaRPr>
                    </a:p>
                  </a:txBody>
                  <a:tcPr marL="71120" marR="71120" marT="71120" marB="71120" anchor="t">
                    <a:lnL w="12700" cap="flat" cmpd="sng" algn="ctr">
                      <a:solidFill>
                        <a:srgbClr val="C4BCB6"/>
                      </a:solidFill>
                      <a:prstDash val="solid"/>
                      <a:round/>
                      <a:headEnd type="none" w="med" len="med"/>
                      <a:tailEnd type="none" w="med" len="med"/>
                    </a:lnL>
                    <a:lnR w="12700" cap="flat" cmpd="sng" algn="ctr">
                      <a:solidFill>
                        <a:srgbClr val="B6AFA9"/>
                      </a:solidFill>
                      <a:prstDash val="solid"/>
                      <a:round/>
                      <a:headEnd type="none" w="med" len="med"/>
                      <a:tailEnd type="none" w="med" len="med"/>
                    </a:lnR>
                    <a:lnT w="12700" cap="flat" cmpd="sng" algn="ctr">
                      <a:solidFill>
                        <a:srgbClr val="C4BCB6"/>
                      </a:solidFill>
                      <a:prstDash val="solid"/>
                      <a:round/>
                      <a:headEnd type="none" w="med" len="med"/>
                      <a:tailEnd type="none" w="med" len="med"/>
                    </a:lnT>
                    <a:lnB w="12700" cap="flat" cmpd="sng" algn="ctr">
                      <a:solidFill>
                        <a:srgbClr val="B6AFA9"/>
                      </a:solidFill>
                      <a:prstDash val="solid"/>
                      <a:round/>
                      <a:headEnd type="none" w="med" len="med"/>
                      <a:tailEnd type="none" w="med" len="med"/>
                    </a:lnB>
                    <a:solidFill>
                      <a:srgbClr val="E4DBD3"/>
                    </a:solidFill>
                  </a:tcPr>
                </a:tc>
                <a:tc>
                  <a:txBody>
                    <a:bodyPr/>
                    <a:lstStyle/>
                    <a:p>
                      <a:pPr indent="0" marL="0">
                        <a:lnSpc>
                          <a:spcPts val="2240"/>
                        </a:lnSpc>
                        <a:buNone/>
                      </a:pPr>
                      <a:r>
                        <a:rPr lang="en-US" sz="1600" b="1" dirty="0">
                          <a:solidFill>
                            <a:srgbClr val="2A1A1E"/>
                          </a:solidFill>
                          <a:latin typeface="DM Sans" pitchFamily="34" charset="0"/>
                          <a:ea typeface="DM Sans" pitchFamily="34" charset="-122"/>
                          <a:cs typeface="DM Sans" pitchFamily="34" charset="-120"/>
                        </a:rPr>
                        <a:t>Also helps with</a:t>
                      </a:r>
                      <a:endParaRPr lang="en-US" sz="1600" dirty="0">
                        <a:latin typeface="DM Sans" charset="0"/>
                        <a:ea typeface="DM Sans" charset="0"/>
                        <a:cs typeface="DM Sans" charset="0"/>
                      </a:endParaRPr>
                    </a:p>
                  </a:txBody>
                  <a:tcPr marL="71120" marR="71120" marT="71120" marB="71120" anchor="t">
                    <a:lnL w="12700" cap="flat" cmpd="sng" algn="ctr">
                      <a:solidFill>
                        <a:srgbClr val="B6AFA9"/>
                      </a:solidFill>
                      <a:prstDash val="solid"/>
                      <a:round/>
                      <a:headEnd type="none" w="med" len="med"/>
                      <a:tailEnd type="none" w="med" len="med"/>
                    </a:lnL>
                    <a:lnR w="12700" cap="flat" cmpd="sng" algn="ctr">
                      <a:solidFill>
                        <a:srgbClr val="B6AFA9"/>
                      </a:solidFill>
                      <a:prstDash val="solid"/>
                      <a:round/>
                      <a:headEnd type="none" w="med" len="med"/>
                      <a:tailEnd type="none" w="med" len="med"/>
                    </a:lnR>
                    <a:lnT w="12700" cap="flat" cmpd="sng" algn="ctr">
                      <a:solidFill>
                        <a:srgbClr val="C4BCB6"/>
                      </a:solidFill>
                      <a:prstDash val="solid"/>
                      <a:round/>
                      <a:headEnd type="none" w="med" len="med"/>
                      <a:tailEnd type="none" w="med" len="med"/>
                    </a:lnT>
                    <a:lnB w="12700" cap="flat" cmpd="sng" algn="ctr">
                      <a:solidFill>
                        <a:srgbClr val="B6AFA9"/>
                      </a:solidFill>
                      <a:prstDash val="solid"/>
                      <a:round/>
                      <a:headEnd type="none" w="med" len="med"/>
                      <a:tailEnd type="none" w="med" len="med"/>
                    </a:lnB>
                    <a:solidFill>
                      <a:srgbClr val="E4DBD3"/>
                    </a:solidFill>
                  </a:tcPr>
                </a:tc>
              </a:tr>
              <a:tr h="436880">
                <a:tc>
                  <a:txBody>
                    <a:bodyPr/>
                    <a:lstStyle/>
                    <a:p>
                      <a:pPr indent="0" marL="0">
                        <a:lnSpc>
                          <a:spcPts val="2240"/>
                        </a:lnSpc>
                        <a:buNone/>
                      </a:pPr>
                      <a:r>
                        <a:rPr lang="en-US" sz="1600" dirty="0">
                          <a:solidFill>
                            <a:srgbClr val="2A1A1E"/>
                          </a:solidFill>
                          <a:latin typeface="DM Sans" pitchFamily="34" charset="0"/>
                          <a:ea typeface="DM Sans" pitchFamily="34" charset="-122"/>
                          <a:cs typeface="DM Sans" pitchFamily="34" charset="-120"/>
                        </a:rPr>
                        <a:t>Atomic-clock timing</a:t>
                      </a:r>
                      <a:endParaRPr lang="en-US" sz="1600" dirty="0">
                        <a:latin typeface="DM Sans" charset="0"/>
                        <a:ea typeface="DM Sans" charset="0"/>
                        <a:cs typeface="DM Sans" charset="0"/>
                      </a:endParaRPr>
                    </a:p>
                  </a:txBody>
                  <a:tcPr marL="71120" marR="71120" marT="71120" marB="71120" anchor="t">
                    <a:lnL w="12700" cap="flat" cmpd="sng" algn="ctr">
                      <a:solidFill>
                        <a:srgbClr val="C4BCB6"/>
                      </a:solidFill>
                      <a:prstDash val="solid"/>
                      <a:round/>
                      <a:headEnd type="none" w="med" len="med"/>
                      <a:tailEnd type="none" w="med" len="med"/>
                    </a:lnL>
                    <a:lnR w="12700" cap="flat" cmpd="sng" algn="ctr">
                      <a:solidFill>
                        <a:srgbClr val="C4BCB6"/>
                      </a:solidFill>
                      <a:prstDash val="solid"/>
                      <a:round/>
                      <a:headEnd type="none" w="med" len="med"/>
                      <a:tailEnd type="none" w="med" len="med"/>
                    </a:lnR>
                    <a:lnT w="12700" cap="flat" cmpd="sng" algn="ctr">
                      <a:solidFill>
                        <a:srgbClr val="B6AFA9"/>
                      </a:solidFill>
                      <a:prstDash val="solid"/>
                      <a:round/>
                      <a:headEnd type="none" w="med" len="med"/>
                      <a:tailEnd type="none" w="med" len="med"/>
                    </a:lnT>
                    <a:lnB w="12700" cap="flat" cmpd="sng" algn="ctr">
                      <a:solidFill>
                        <a:srgbClr val="C4BCB6"/>
                      </a:solidFill>
                      <a:prstDash val="solid"/>
                      <a:round/>
                      <a:headEnd type="none" w="med" len="med"/>
                      <a:tailEnd type="none" w="med" len="med"/>
                    </a:lnB>
                  </a:tcPr>
                </a:tc>
                <a:tc>
                  <a:txBody>
                    <a:bodyPr/>
                    <a:lstStyle/>
                    <a:p>
                      <a:pPr indent="0" marL="0">
                        <a:lnSpc>
                          <a:spcPts val="2240"/>
                        </a:lnSpc>
                        <a:buNone/>
                      </a:pPr>
                      <a:r>
                        <a:rPr lang="en-US" sz="1600" dirty="0">
                          <a:solidFill>
                            <a:srgbClr val="2A1A1E"/>
                          </a:solidFill>
                          <a:latin typeface="DM Sans" pitchFamily="34" charset="0"/>
                          <a:ea typeface="DM Sans" pitchFamily="34" charset="-122"/>
                          <a:cs typeface="DM Sans" pitchFamily="34" charset="-120"/>
                        </a:rPr>
                        <a:t>Navigation, telecoms and power grids</a:t>
                      </a:r>
                      <a:endParaRPr lang="en-US" sz="1600" dirty="0">
                        <a:latin typeface="DM Sans" charset="0"/>
                        <a:ea typeface="DM Sans" charset="0"/>
                        <a:cs typeface="DM Sans" charset="0"/>
                      </a:endParaRPr>
                    </a:p>
                  </a:txBody>
                  <a:tcPr marL="71120" marR="71120" marT="71120" marB="71120" anchor="t">
                    <a:lnL w="12700" cap="flat" cmpd="sng" algn="ctr">
                      <a:solidFill>
                        <a:srgbClr val="C4BCB6"/>
                      </a:solidFill>
                      <a:prstDash val="solid"/>
                      <a:round/>
                      <a:headEnd type="none" w="med" len="med"/>
                      <a:tailEnd type="none" w="med" len="med"/>
                    </a:lnL>
                    <a:lnR w="12700" cap="flat" cmpd="sng" algn="ctr">
                      <a:solidFill>
                        <a:srgbClr val="C4BCB6"/>
                      </a:solidFill>
                      <a:prstDash val="solid"/>
                      <a:round/>
                      <a:headEnd type="none" w="med" len="med"/>
                      <a:tailEnd type="none" w="med" len="med"/>
                    </a:lnR>
                    <a:lnT w="12700" cap="flat" cmpd="sng" algn="ctr">
                      <a:solidFill>
                        <a:srgbClr val="B6AFA9"/>
                      </a:solidFill>
                      <a:prstDash val="solid"/>
                      <a:round/>
                      <a:headEnd type="none" w="med" len="med"/>
                      <a:tailEnd type="none" w="med" len="med"/>
                    </a:lnT>
                    <a:lnB w="12700" cap="flat" cmpd="sng" algn="ctr">
                      <a:solidFill>
                        <a:srgbClr val="C4BCB6"/>
                      </a:solidFill>
                      <a:prstDash val="solid"/>
                      <a:round/>
                      <a:headEnd type="none" w="med" len="med"/>
                      <a:tailEnd type="none" w="med" len="med"/>
                    </a:lnB>
                  </a:tcPr>
                </a:tc>
              </a:tr>
              <a:tr h="436880">
                <a:tc>
                  <a:txBody>
                    <a:bodyPr/>
                    <a:lstStyle/>
                    <a:p>
                      <a:pPr indent="0" marL="0">
                        <a:lnSpc>
                          <a:spcPts val="2240"/>
                        </a:lnSpc>
                        <a:buNone/>
                      </a:pPr>
                      <a:r>
                        <a:rPr lang="en-US" sz="1600" dirty="0">
                          <a:solidFill>
                            <a:srgbClr val="2A1A1E"/>
                          </a:solidFill>
                          <a:latin typeface="DM Sans" pitchFamily="34" charset="0"/>
                          <a:ea typeface="DM Sans" pitchFamily="34" charset="-122"/>
                          <a:cs typeface="DM Sans" pitchFamily="34" charset="-120"/>
                        </a:rPr>
                        <a:t>Telescopes linked across Earth</a:t>
                      </a:r>
                      <a:endParaRPr lang="en-US" sz="1600" dirty="0">
                        <a:latin typeface="DM Sans" charset="0"/>
                        <a:ea typeface="DM Sans" charset="0"/>
                        <a:cs typeface="DM Sans" charset="0"/>
                      </a:endParaRPr>
                    </a:p>
                  </a:txBody>
                  <a:tcPr marL="71120" marR="71120" marT="71120" marB="71120" anchor="t">
                    <a:lnL w="12700" cap="flat" cmpd="sng" algn="ctr">
                      <a:solidFill>
                        <a:srgbClr val="C4BCB6"/>
                      </a:solidFill>
                      <a:prstDash val="solid"/>
                      <a:round/>
                      <a:headEnd type="none" w="med" len="med"/>
                      <a:tailEnd type="none" w="med" len="med"/>
                    </a:lnL>
                    <a:lnR w="12700" cap="flat" cmpd="sng" algn="ctr">
                      <a:solidFill>
                        <a:srgbClr val="C4BCB6"/>
                      </a:solidFill>
                      <a:prstDash val="solid"/>
                      <a:round/>
                      <a:headEnd type="none" w="med" len="med"/>
                      <a:tailEnd type="none" w="med" len="med"/>
                    </a:lnR>
                    <a:lnT w="12700" cap="flat" cmpd="sng" algn="ctr">
                      <a:solidFill>
                        <a:srgbClr val="C4BCB6"/>
                      </a:solidFill>
                      <a:prstDash val="solid"/>
                      <a:round/>
                      <a:headEnd type="none" w="med" len="med"/>
                      <a:tailEnd type="none" w="med" len="med"/>
                    </a:lnT>
                    <a:lnB w="12700" cap="flat" cmpd="sng" algn="ctr">
                      <a:solidFill>
                        <a:srgbClr val="C4BCB6"/>
                      </a:solidFill>
                      <a:prstDash val="solid"/>
                      <a:round/>
                      <a:headEnd type="none" w="med" len="med"/>
                      <a:tailEnd type="none" w="med" len="med"/>
                    </a:lnB>
                  </a:tcPr>
                </a:tc>
                <a:tc>
                  <a:txBody>
                    <a:bodyPr/>
                    <a:lstStyle/>
                    <a:p>
                      <a:pPr indent="0" marL="0">
                        <a:lnSpc>
                          <a:spcPts val="2240"/>
                        </a:lnSpc>
                        <a:buNone/>
                      </a:pPr>
                      <a:r>
                        <a:rPr lang="en-US" sz="1600" dirty="0">
                          <a:solidFill>
                            <a:srgbClr val="2A1A1E"/>
                          </a:solidFill>
                          <a:latin typeface="DM Sans" pitchFamily="34" charset="0"/>
                          <a:ea typeface="DM Sans" pitchFamily="34" charset="-122"/>
                          <a:cs typeface="DM Sans" pitchFamily="34" charset="-120"/>
                        </a:rPr>
                        <a:t>Tracking Earth’s spin and moving continents</a:t>
                      </a:r>
                      <a:endParaRPr lang="en-US" sz="1600" dirty="0">
                        <a:latin typeface="DM Sans" charset="0"/>
                        <a:ea typeface="DM Sans" charset="0"/>
                        <a:cs typeface="DM Sans" charset="0"/>
                      </a:endParaRPr>
                    </a:p>
                  </a:txBody>
                  <a:tcPr marL="71120" marR="71120" marT="71120" marB="71120" anchor="t">
                    <a:lnL w="12700" cap="flat" cmpd="sng" algn="ctr">
                      <a:solidFill>
                        <a:srgbClr val="C4BCB6"/>
                      </a:solidFill>
                      <a:prstDash val="solid"/>
                      <a:round/>
                      <a:headEnd type="none" w="med" len="med"/>
                      <a:tailEnd type="none" w="med" len="med"/>
                    </a:lnL>
                    <a:lnR w="12700" cap="flat" cmpd="sng" algn="ctr">
                      <a:solidFill>
                        <a:srgbClr val="C4BCB6"/>
                      </a:solidFill>
                      <a:prstDash val="solid"/>
                      <a:round/>
                      <a:headEnd type="none" w="med" len="med"/>
                      <a:tailEnd type="none" w="med" len="med"/>
                    </a:lnR>
                    <a:lnT w="12700" cap="flat" cmpd="sng" algn="ctr">
                      <a:solidFill>
                        <a:srgbClr val="C4BCB6"/>
                      </a:solidFill>
                      <a:prstDash val="solid"/>
                      <a:round/>
                      <a:headEnd type="none" w="med" len="med"/>
                      <a:tailEnd type="none" w="med" len="med"/>
                    </a:lnT>
                    <a:lnB w="12700" cap="flat" cmpd="sng" algn="ctr">
                      <a:solidFill>
                        <a:srgbClr val="C4BCB6"/>
                      </a:solidFill>
                      <a:prstDash val="solid"/>
                      <a:round/>
                      <a:headEnd type="none" w="med" len="med"/>
                      <a:tailEnd type="none" w="med" len="med"/>
                    </a:lnB>
                  </a:tcPr>
                </a:tc>
              </a:tr>
              <a:tr h="436880">
                <a:tc>
                  <a:txBody>
                    <a:bodyPr/>
                    <a:lstStyle/>
                    <a:p>
                      <a:pPr indent="0" marL="0">
                        <a:lnSpc>
                          <a:spcPts val="2240"/>
                        </a:lnSpc>
                        <a:buNone/>
                      </a:pPr>
                      <a:r>
                        <a:rPr lang="en-US" sz="1600" dirty="0">
                          <a:solidFill>
                            <a:srgbClr val="2A1A1E"/>
                          </a:solidFill>
                          <a:latin typeface="DM Sans" pitchFamily="34" charset="0"/>
                          <a:ea typeface="DM Sans" pitchFamily="34" charset="-122"/>
                          <a:cs typeface="DM Sans" pitchFamily="34" charset="-120"/>
                        </a:rPr>
                        <a:t>Images from incomplete data</a:t>
                      </a:r>
                      <a:endParaRPr lang="en-US" sz="1600" dirty="0">
                        <a:latin typeface="DM Sans" charset="0"/>
                        <a:ea typeface="DM Sans" charset="0"/>
                        <a:cs typeface="DM Sans" charset="0"/>
                      </a:endParaRPr>
                    </a:p>
                  </a:txBody>
                  <a:tcPr marL="71120" marR="71120" marT="71120" marB="71120" anchor="t">
                    <a:lnL w="12700" cap="flat" cmpd="sng" algn="ctr">
                      <a:solidFill>
                        <a:srgbClr val="C4BCB6"/>
                      </a:solidFill>
                      <a:prstDash val="solid"/>
                      <a:round/>
                      <a:headEnd type="none" w="med" len="med"/>
                      <a:tailEnd type="none" w="med" len="med"/>
                    </a:lnL>
                    <a:lnR w="12700" cap="flat" cmpd="sng" algn="ctr">
                      <a:solidFill>
                        <a:srgbClr val="C4BCB6"/>
                      </a:solidFill>
                      <a:prstDash val="solid"/>
                      <a:round/>
                      <a:headEnd type="none" w="med" len="med"/>
                      <a:tailEnd type="none" w="med" len="med"/>
                    </a:lnR>
                    <a:lnT w="12700" cap="flat" cmpd="sng" algn="ctr">
                      <a:solidFill>
                        <a:srgbClr val="C4BCB6"/>
                      </a:solidFill>
                      <a:prstDash val="solid"/>
                      <a:round/>
                      <a:headEnd type="none" w="med" len="med"/>
                      <a:tailEnd type="none" w="med" len="med"/>
                    </a:lnT>
                    <a:lnB w="12700" cap="flat" cmpd="sng" algn="ctr">
                      <a:solidFill>
                        <a:srgbClr val="C4BCB6"/>
                      </a:solidFill>
                      <a:prstDash val="solid"/>
                      <a:round/>
                      <a:headEnd type="none" w="med" len="med"/>
                      <a:tailEnd type="none" w="med" len="med"/>
                    </a:lnB>
                  </a:tcPr>
                </a:tc>
                <a:tc>
                  <a:txBody>
                    <a:bodyPr/>
                    <a:lstStyle/>
                    <a:p>
                      <a:pPr indent="0" marL="0">
                        <a:lnSpc>
                          <a:spcPts val="2240"/>
                        </a:lnSpc>
                        <a:buNone/>
                      </a:pPr>
                      <a:r>
                        <a:rPr lang="en-US" sz="1600" dirty="0">
                          <a:solidFill>
                            <a:srgbClr val="2A1A1E"/>
                          </a:solidFill>
                          <a:latin typeface="DM Sans" pitchFamily="34" charset="0"/>
                          <a:ea typeface="DM Sans" pitchFamily="34" charset="-122"/>
                          <a:cs typeface="DM Sans" pitchFamily="34" charset="-120"/>
                        </a:rPr>
                        <a:t>Medical scans, radar and seismic imaging</a:t>
                      </a:r>
                      <a:endParaRPr lang="en-US" sz="1600" dirty="0">
                        <a:latin typeface="DM Sans" charset="0"/>
                        <a:ea typeface="DM Sans" charset="0"/>
                        <a:cs typeface="DM Sans" charset="0"/>
                      </a:endParaRPr>
                    </a:p>
                  </a:txBody>
                  <a:tcPr marL="71120" marR="71120" marT="71120" marB="71120" anchor="t">
                    <a:lnL w="12700" cap="flat" cmpd="sng" algn="ctr">
                      <a:solidFill>
                        <a:srgbClr val="C4BCB6"/>
                      </a:solidFill>
                      <a:prstDash val="solid"/>
                      <a:round/>
                      <a:headEnd type="none" w="med" len="med"/>
                      <a:tailEnd type="none" w="med" len="med"/>
                    </a:lnL>
                    <a:lnR w="12700" cap="flat" cmpd="sng" algn="ctr">
                      <a:solidFill>
                        <a:srgbClr val="C4BCB6"/>
                      </a:solidFill>
                      <a:prstDash val="solid"/>
                      <a:round/>
                      <a:headEnd type="none" w="med" len="med"/>
                      <a:tailEnd type="none" w="med" len="med"/>
                    </a:lnR>
                    <a:lnT w="12700" cap="flat" cmpd="sng" algn="ctr">
                      <a:solidFill>
                        <a:srgbClr val="C4BCB6"/>
                      </a:solidFill>
                      <a:prstDash val="solid"/>
                      <a:round/>
                      <a:headEnd type="none" w="med" len="med"/>
                      <a:tailEnd type="none" w="med" len="med"/>
                    </a:lnT>
                    <a:lnB w="12700" cap="flat" cmpd="sng" algn="ctr">
                      <a:solidFill>
                        <a:srgbClr val="C4BCB6"/>
                      </a:solidFill>
                      <a:prstDash val="solid"/>
                      <a:round/>
                      <a:headEnd type="none" w="med" len="med"/>
                      <a:tailEnd type="none" w="med" len="med"/>
                    </a:lnB>
                  </a:tcPr>
                </a:tc>
              </a:tr>
              <a:tr h="436880">
                <a:tc>
                  <a:txBody>
                    <a:bodyPr/>
                    <a:lstStyle/>
                    <a:p>
                      <a:pPr indent="0" marL="0">
                        <a:lnSpc>
                          <a:spcPts val="2240"/>
                        </a:lnSpc>
                        <a:buNone/>
                      </a:pPr>
                      <a:r>
                        <a:rPr lang="en-US" sz="1600" dirty="0">
                          <a:solidFill>
                            <a:srgbClr val="2A1A1E"/>
                          </a:solidFill>
                          <a:latin typeface="DM Sans" pitchFamily="34" charset="0"/>
                          <a:ea typeface="DM Sans" pitchFamily="34" charset="-122"/>
                          <a:cs typeface="DM Sans" pitchFamily="34" charset="-120"/>
                        </a:rPr>
                        <a:t>Huge data recording</a:t>
                      </a:r>
                      <a:endParaRPr lang="en-US" sz="1600" dirty="0">
                        <a:latin typeface="DM Sans" charset="0"/>
                        <a:ea typeface="DM Sans" charset="0"/>
                        <a:cs typeface="DM Sans" charset="0"/>
                      </a:endParaRPr>
                    </a:p>
                  </a:txBody>
                  <a:tcPr marL="71120" marR="71120" marT="71120" marB="71120" anchor="t">
                    <a:lnL w="12700" cap="flat" cmpd="sng" algn="ctr">
                      <a:solidFill>
                        <a:srgbClr val="C4BCB6"/>
                      </a:solidFill>
                      <a:prstDash val="solid"/>
                      <a:round/>
                      <a:headEnd type="none" w="med" len="med"/>
                      <a:tailEnd type="none" w="med" len="med"/>
                    </a:lnL>
                    <a:lnR w="12700" cap="flat" cmpd="sng" algn="ctr">
                      <a:solidFill>
                        <a:srgbClr val="C4BCB6"/>
                      </a:solidFill>
                      <a:prstDash val="solid"/>
                      <a:round/>
                      <a:headEnd type="none" w="med" len="med"/>
                      <a:tailEnd type="none" w="med" len="med"/>
                    </a:lnR>
                    <a:lnT w="12700" cap="flat" cmpd="sng" algn="ctr">
                      <a:solidFill>
                        <a:srgbClr val="C4BCB6"/>
                      </a:solidFill>
                      <a:prstDash val="solid"/>
                      <a:round/>
                      <a:headEnd type="none" w="med" len="med"/>
                      <a:tailEnd type="none" w="med" len="med"/>
                    </a:lnT>
                    <a:lnB w="12700" cap="flat" cmpd="sng" algn="ctr">
                      <a:solidFill>
                        <a:srgbClr val="C4BCB6"/>
                      </a:solidFill>
                      <a:prstDash val="solid"/>
                      <a:round/>
                      <a:headEnd type="none" w="med" len="med"/>
                      <a:tailEnd type="none" w="med" len="med"/>
                    </a:lnB>
                  </a:tcPr>
                </a:tc>
                <a:tc>
                  <a:txBody>
                    <a:bodyPr/>
                    <a:lstStyle/>
                    <a:p>
                      <a:pPr indent="0" marL="0">
                        <a:lnSpc>
                          <a:spcPts val="2240"/>
                        </a:lnSpc>
                        <a:buNone/>
                      </a:pPr>
                      <a:r>
                        <a:rPr lang="en-US" sz="1600" dirty="0">
                          <a:solidFill>
                            <a:srgbClr val="2A1A1E"/>
                          </a:solidFill>
                          <a:latin typeface="DM Sans" pitchFamily="34" charset="0"/>
                          <a:ea typeface="DM Sans" pitchFamily="34" charset="-122"/>
                          <a:cs typeface="DM Sans" pitchFamily="34" charset="-120"/>
                        </a:rPr>
                        <a:t>Big datasets in science and industry</a:t>
                      </a:r>
                      <a:endParaRPr lang="en-US" sz="1600" dirty="0">
                        <a:latin typeface="DM Sans" charset="0"/>
                        <a:ea typeface="DM Sans" charset="0"/>
                        <a:cs typeface="DM Sans" charset="0"/>
                      </a:endParaRPr>
                    </a:p>
                  </a:txBody>
                  <a:tcPr marL="71120" marR="71120" marT="71120" marB="71120" anchor="t">
                    <a:lnL w="12700" cap="flat" cmpd="sng" algn="ctr">
                      <a:solidFill>
                        <a:srgbClr val="C4BCB6"/>
                      </a:solidFill>
                      <a:prstDash val="solid"/>
                      <a:round/>
                      <a:headEnd type="none" w="med" len="med"/>
                      <a:tailEnd type="none" w="med" len="med"/>
                    </a:lnL>
                    <a:lnR w="12700" cap="flat" cmpd="sng" algn="ctr">
                      <a:solidFill>
                        <a:srgbClr val="C4BCB6"/>
                      </a:solidFill>
                      <a:prstDash val="solid"/>
                      <a:round/>
                      <a:headEnd type="none" w="med" len="med"/>
                      <a:tailEnd type="none" w="med" len="med"/>
                    </a:lnR>
                    <a:lnT w="12700" cap="flat" cmpd="sng" algn="ctr">
                      <a:solidFill>
                        <a:srgbClr val="C4BCB6"/>
                      </a:solidFill>
                      <a:prstDash val="solid"/>
                      <a:round/>
                      <a:headEnd type="none" w="med" len="med"/>
                      <a:tailEnd type="none" w="med" len="med"/>
                    </a:lnT>
                    <a:lnB w="12700" cap="flat" cmpd="sng" algn="ctr">
                      <a:solidFill>
                        <a:srgbClr val="C4BCB6"/>
                      </a:solidFill>
                      <a:prstDash val="solid"/>
                      <a:round/>
                      <a:headEnd type="none" w="med" len="med"/>
                      <a:tailEnd type="none" w="med" len="med"/>
                    </a:lnB>
                  </a:tcPr>
                </a:tc>
              </a:tr>
              <a:tr h="436880">
                <a:tc>
                  <a:txBody>
                    <a:bodyPr/>
                    <a:lstStyle/>
                    <a:p>
                      <a:pPr indent="0" marL="0">
                        <a:lnSpc>
                          <a:spcPts val="2240"/>
                        </a:lnSpc>
                        <a:buNone/>
                      </a:pPr>
                      <a:r>
                        <a:rPr lang="en-US" sz="1600" dirty="0">
                          <a:solidFill>
                            <a:srgbClr val="2A1A1E"/>
                          </a:solidFill>
                          <a:latin typeface="DM Sans" pitchFamily="34" charset="0"/>
                          <a:ea typeface="DM Sans" pitchFamily="34" charset="-122"/>
                          <a:cs typeface="DM Sans" pitchFamily="34" charset="-120"/>
                        </a:rPr>
                        <a:t>Hot plasma simulations</a:t>
                      </a:r>
                      <a:endParaRPr lang="en-US" sz="1600" dirty="0">
                        <a:latin typeface="DM Sans" charset="0"/>
                        <a:ea typeface="DM Sans" charset="0"/>
                        <a:cs typeface="DM Sans" charset="0"/>
                      </a:endParaRPr>
                    </a:p>
                  </a:txBody>
                  <a:tcPr marL="71120" marR="71120" marT="71120" marB="71120" anchor="t">
                    <a:lnL w="12700" cap="flat" cmpd="sng" algn="ctr">
                      <a:solidFill>
                        <a:srgbClr val="C4BCB6"/>
                      </a:solidFill>
                      <a:prstDash val="solid"/>
                      <a:round/>
                      <a:headEnd type="none" w="med" len="med"/>
                      <a:tailEnd type="none" w="med" len="med"/>
                    </a:lnL>
                    <a:lnR w="12700" cap="flat" cmpd="sng" algn="ctr">
                      <a:solidFill>
                        <a:srgbClr val="C4BCB6"/>
                      </a:solidFill>
                      <a:prstDash val="solid"/>
                      <a:round/>
                      <a:headEnd type="none" w="med" len="med"/>
                      <a:tailEnd type="none" w="med" len="med"/>
                    </a:lnR>
                    <a:lnT w="12700" cap="flat" cmpd="sng" algn="ctr">
                      <a:solidFill>
                        <a:srgbClr val="C4BCB6"/>
                      </a:solidFill>
                      <a:prstDash val="solid"/>
                      <a:round/>
                      <a:headEnd type="none" w="med" len="med"/>
                      <a:tailEnd type="none" w="med" len="med"/>
                    </a:lnT>
                    <a:lnB w="12700" cap="flat" cmpd="sng" algn="ctr">
                      <a:solidFill>
                        <a:srgbClr val="C4BCB6"/>
                      </a:solidFill>
                      <a:prstDash val="solid"/>
                      <a:round/>
                      <a:headEnd type="none" w="med" len="med"/>
                      <a:tailEnd type="none" w="med" len="med"/>
                    </a:lnB>
                  </a:tcPr>
                </a:tc>
                <a:tc>
                  <a:txBody>
                    <a:bodyPr/>
                    <a:lstStyle/>
                    <a:p>
                      <a:pPr indent="0" marL="0">
                        <a:lnSpc>
                          <a:spcPts val="2240"/>
                        </a:lnSpc>
                        <a:buNone/>
                      </a:pPr>
                      <a:r>
                        <a:rPr lang="en-US" sz="1600" dirty="0">
                          <a:solidFill>
                            <a:srgbClr val="2A1A1E"/>
                          </a:solidFill>
                          <a:latin typeface="DM Sans" pitchFamily="34" charset="0"/>
                          <a:ea typeface="DM Sans" pitchFamily="34" charset="-122"/>
                          <a:cs typeface="DM Sans" pitchFamily="34" charset="-120"/>
                        </a:rPr>
                        <a:t>Fusion energy and space-weather research</a:t>
                      </a:r>
                      <a:endParaRPr lang="en-US" sz="1600" dirty="0">
                        <a:latin typeface="DM Sans" charset="0"/>
                        <a:ea typeface="DM Sans" charset="0"/>
                        <a:cs typeface="DM Sans" charset="0"/>
                      </a:endParaRPr>
                    </a:p>
                  </a:txBody>
                  <a:tcPr marL="71120" marR="71120" marT="71120" marB="71120" anchor="t">
                    <a:lnL w="12700" cap="flat" cmpd="sng" algn="ctr">
                      <a:solidFill>
                        <a:srgbClr val="C4BCB6"/>
                      </a:solidFill>
                      <a:prstDash val="solid"/>
                      <a:round/>
                      <a:headEnd type="none" w="med" len="med"/>
                      <a:tailEnd type="none" w="med" len="med"/>
                    </a:lnL>
                    <a:lnR w="12700" cap="flat" cmpd="sng" algn="ctr">
                      <a:solidFill>
                        <a:srgbClr val="C4BCB6"/>
                      </a:solidFill>
                      <a:prstDash val="solid"/>
                      <a:round/>
                      <a:headEnd type="none" w="med" len="med"/>
                      <a:tailEnd type="none" w="med" len="med"/>
                    </a:lnR>
                    <a:lnT w="12700" cap="flat" cmpd="sng" algn="ctr">
                      <a:solidFill>
                        <a:srgbClr val="C4BCB6"/>
                      </a:solidFill>
                      <a:prstDash val="solid"/>
                      <a:round/>
                      <a:headEnd type="none" w="med" len="med"/>
                      <a:tailEnd type="none" w="med" len="med"/>
                    </a:lnT>
                    <a:lnB w="12700" cap="flat" cmpd="sng" algn="ctr">
                      <a:solidFill>
                        <a:srgbClr val="C4BCB6"/>
                      </a:solidFill>
                      <a:prstDash val="solid"/>
                      <a:round/>
                      <a:headEnd type="none" w="med" len="med"/>
                      <a:tailEnd type="none" w="med" len="med"/>
                    </a:lnB>
                  </a:tcPr>
                </a:tc>
              </a:tr>
            </a:tbl>
          </a:graphicData>
        </a:graphic>
      </p:graphicFrame>
      <p:sp>
        <p:nvSpPr>
          <p:cNvPr id="5" name="Text 2"/>
          <p:cNvSpPr/>
          <p:nvPr/>
        </p:nvSpPr>
        <p:spPr>
          <a:xfrm>
            <a:off x="812800" y="6238242"/>
            <a:ext cx="10464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5A5E"/>
                </a:solidFill>
                <a:latin typeface="DM Sans" pitchFamily="34" charset="0"/>
                <a:ea typeface="DM Sans" pitchFamily="34" charset="-122"/>
                <a:cs typeface="DM Sans" pitchFamily="34" charset="-120"/>
              </a:rPr>
              <a:t>Left column: methods used in the paper. Right column: examples from general knowledge, not claims made by the paper.</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090D"/>
        </a:solidFill>
      </p:bgPr>
    </p:bg>
    <p:spTree>
      <p:nvGrpSpPr>
        <p:cNvPr id="1" name=""/>
        <p:cNvGrpSpPr/>
        <p:nvPr/>
      </p:nvGrpSpPr>
      <p:grpSpPr>
        <a:xfrm>
          <a:off x="0" y="0"/>
          <a:ext cx="0" cy="0"/>
          <a:chOff x="0" y="0"/>
          <a:chExt cx="0" cy="0"/>
        </a:xfrm>
      </p:grpSpPr>
      <p:sp>
        <p:nvSpPr>
          <p:cNvPr id="2" name="Text 0"/>
          <p:cNvSpPr/>
          <p:nvPr/>
        </p:nvSpPr>
        <p:spPr>
          <a:xfrm>
            <a:off x="812800" y="140335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EF6A1A"/>
                </a:solidFill>
                <a:latin typeface="DM Sans" pitchFamily="34" charset="0"/>
                <a:ea typeface="DM Sans" pitchFamily="34" charset="-122"/>
                <a:cs typeface="DM Sans" pitchFamily="34" charset="-120"/>
              </a:rPr>
              <a:t>YOUR TURN</a:t>
            </a:r>
            <a:endParaRPr lang="en-US" sz="1400" dirty="0"/>
          </a:p>
        </p:txBody>
      </p:sp>
      <p:sp>
        <p:nvSpPr>
          <p:cNvPr id="3" name="Text 1"/>
          <p:cNvSpPr/>
          <p:nvPr>
            <p:ph type="title"/>
          </p:nvPr>
        </p:nvSpPr>
        <p:spPr>
          <a:xfrm>
            <a:off x="812800" y="1880871"/>
            <a:ext cx="5886450" cy="1579880"/>
          </a:xfrm>
          <a:prstGeom prst="rect">
            <a:avLst/>
          </a:prstGeom>
          <a:noFill/>
          <a:ln/>
        </p:spPr>
        <p:txBody>
          <a:bodyPr wrap="square" lIns="0" tIns="0" rIns="0" bIns="0" rtlCol="0" anchor="t">
            <a:normAutofit/>
          </a:bodyPr>
          <a:lstStyle/>
          <a:p>
            <a:pPr algn="l" indent="0" marL="0">
              <a:lnSpc>
                <a:spcPts val="6120"/>
              </a:lnSpc>
              <a:buNone/>
            </a:pPr>
            <a:r>
              <a:rPr lang="en-US" sz="6000" b="1" i="0" dirty="0">
                <a:solidFill>
                  <a:srgbClr val="F6ECE4"/>
                </a:solidFill>
                <a:latin typeface="Bricolage Grotesque" pitchFamily="18" charset="0"/>
                <a:ea typeface="Bricolage Grotesque" pitchFamily="18" charset="-122"/>
                <a:cs typeface="Bricolage Grotesque" pitchFamily="18" charset="-120"/>
              </a:rPr>
              <a:t>Play Shadow Catchers</a:t>
            </a:r>
            <a:endParaRPr lang="en-US" sz="6000" dirty="0"/>
          </a:p>
        </p:txBody>
      </p:sp>
      <p:sp>
        <p:nvSpPr>
          <p:cNvPr id="4" name="Text 2"/>
          <p:cNvSpPr/>
          <p:nvPr/>
        </p:nvSpPr>
        <p:spPr>
          <a:xfrm>
            <a:off x="812800" y="3663950"/>
            <a:ext cx="5755640" cy="7366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D8C7BE"/>
                </a:solidFill>
                <a:latin typeface="DM Sans" pitchFamily="34" charset="0"/>
                <a:ea typeface="DM Sans" pitchFamily="34" charset="-122"/>
                <a:cs typeface="DM Sans" pitchFamily="34" charset="-120"/>
              </a:rPr>
              <a:t>Scan the code with your phone. Five short missions cover everything in this talk.</a:t>
            </a:r>
            <a:endParaRPr lang="en-US" sz="2000" dirty="0"/>
          </a:p>
        </p:txBody>
      </p:sp>
      <p:sp>
        <p:nvSpPr>
          <p:cNvPr id="5" name="Text 3"/>
          <p:cNvSpPr/>
          <p:nvPr/>
        </p:nvSpPr>
        <p:spPr>
          <a:xfrm>
            <a:off x="812800" y="4603750"/>
            <a:ext cx="5755640" cy="673100"/>
          </a:xfrm>
          <a:prstGeom prst="rect">
            <a:avLst/>
          </a:prstGeom>
          <a:noFill/>
          <a:ln/>
        </p:spPr>
        <p:txBody>
          <a:bodyPr wrap="square" lIns="0" tIns="0" rIns="0" bIns="0" rtlCol="0" anchor="t">
            <a:normAutofit/>
          </a:bodyPr>
          <a:lstStyle/>
          <a:p>
            <a:pPr algn="l" indent="0" marL="0">
              <a:lnSpc>
                <a:spcPts val="2550"/>
              </a:lnSpc>
              <a:buNone/>
            </a:pPr>
            <a:r>
              <a:rPr lang="en-US" sz="1700" dirty="0">
                <a:solidFill>
                  <a:srgbClr val="F6ECE4"/>
                </a:solidFill>
                <a:latin typeface="DM Sans" pitchFamily="34" charset="0"/>
                <a:ea typeface="DM Sans" pitchFamily="34" charset="-122"/>
                <a:cs typeface="DM Sans" pitchFamily="34" charset="-120"/>
              </a:rPr>
              <a:t>Bend light. Weigh the black hole. Build the Earth telescope. Judge the evidence. Match the technology.</a:t>
            </a:r>
            <a:endParaRPr lang="en-US" sz="1700" dirty="0"/>
          </a:p>
        </p:txBody>
      </p:sp>
      <p:sp>
        <p:nvSpPr>
          <p:cNvPr id="6" name="Shape 4"/>
          <p:cNvSpPr/>
          <p:nvPr/>
        </p:nvSpPr>
        <p:spPr>
          <a:xfrm>
            <a:off x="7061200" y="1397000"/>
            <a:ext cx="3937000" cy="3937000"/>
          </a:xfrm>
          <a:prstGeom prst="roundRect">
            <a:avLst>
              <a:gd name="adj" fmla="val 3871"/>
            </a:avLst>
          </a:prstGeom>
          <a:solidFill>
            <a:srgbClr val="F6ECE4"/>
          </a:solidFill>
          <a:ln/>
        </p:spPr>
      </p:sp>
      <p:pic>
        <p:nvPicPr>
          <p:cNvPr id="7" name="Image 0" descr="QR code linking to the Shadow Catchers game">    </p:cNvPr>
          <p:cNvPicPr>
            <a:picLocks noChangeAspect="1"/>
          </p:cNvPicPr>
          <p:nvPr/>
        </p:nvPicPr>
        <p:blipFill>
          <a:blip r:embed="rId1"/>
          <a:srcRect l="0" r="0" t="0" b="0"/>
          <a:stretch/>
        </p:blipFill>
        <p:spPr>
          <a:xfrm>
            <a:off x="7251700" y="1587500"/>
            <a:ext cx="3556000" cy="3556000"/>
          </a:xfrm>
          <a:prstGeom prst="rect">
            <a:avLst/>
          </a:prstGeom>
        </p:spPr>
      </p:pic>
      <p:sp>
        <p:nvSpPr>
          <p:cNvPr id="8" name="Text 5"/>
          <p:cNvSpPr/>
          <p:nvPr/>
        </p:nvSpPr>
        <p:spPr>
          <a:xfrm>
            <a:off x="7002145" y="5461000"/>
            <a:ext cx="4055110" cy="256540"/>
          </a:xfrm>
          <a:prstGeom prst="rect">
            <a:avLst/>
          </a:prstGeom>
          <a:noFill/>
          <a:ln/>
        </p:spPr>
        <p:txBody>
          <a:bodyPr wrap="square" lIns="0" tIns="0" rIns="0" bIns="0" rtlCol="0" anchor="t">
            <a:normAutofit/>
          </a:bodyPr>
          <a:lstStyle/>
          <a:p>
            <a:pPr algn="ctr" indent="0" marL="0">
              <a:lnSpc>
                <a:spcPts val="1820"/>
              </a:lnSpc>
              <a:buNone/>
            </a:pPr>
            <a:r>
              <a:rPr lang="en-US" sz="1300" dirty="0">
                <a:solidFill>
                  <a:srgbClr val="D8C7BE"/>
                </a:solidFill>
                <a:latin typeface="DM Sans" pitchFamily="34" charset="0"/>
                <a:ea typeface="DM Sans" pitchFamily="34" charset="-122"/>
                <a:cs typeface="DM Sans" pitchFamily="34" charset="-120"/>
              </a:rPr>
              <a:t>Opens Shadow Catchers in your browser</a:t>
            </a:r>
            <a:endParaRPr lang="en-US" sz="1300" dirty="0"/>
          </a:p>
        </p:txBody>
      </p:sp>
    </p:spTree>
  </p:cSld>
  <p:clrMapOvr>
    <a:masterClrMapping/>
  </p:clrMapOvr>
</p:sld>
</file>

<file path=ppt/theme/theme1.xml><?xml version="1.0" encoding="utf-8"?>
<a:theme xmlns:a="http://schemas.openxmlformats.org/drawingml/2006/main" name="Shadow Catchers Talk">
  <a:themeElements>
    <a:clrScheme name="Shadow Catchers Talk">
      <a:dk1>
        <a:srgbClr val="14090D"/>
      </a:dk1>
      <a:lt1>
        <a:srgbClr val="F6ECE4"/>
      </a:lt1>
      <a:dk2>
        <a:srgbClr val="2B2023"/>
      </a:dk2>
      <a:lt2>
        <a:srgbClr val="BEB3AE"/>
      </a:lt2>
      <a:accent1>
        <a:srgbClr val="FFB347"/>
      </a:accent1>
      <a:accent2>
        <a:srgbClr val="EF6A1A"/>
      </a:accent2>
      <a:accent3>
        <a:srgbClr val="B23D0B"/>
      </a:accent3>
      <a:accent4>
        <a:srgbClr val="B3260E"/>
      </a:accent4>
      <a:accent5>
        <a:srgbClr val="D8C7BE"/>
      </a:accent5>
      <a:accent6>
        <a:srgbClr val="5A4A4E"/>
      </a:accent6>
      <a:hlink>
        <a:srgbClr val="0563C1"/>
      </a:hlink>
      <a:folHlink>
        <a:srgbClr val="954F72"/>
      </a:folHlink>
    </a:clrScheme>
    <a:fontScheme name="Shadow Catchers Talk">
      <a:majorFont>
        <a:latin typeface="Bricolage Grotesque"/>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DM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Shadow Catchers Talk</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DM Sans
Copyright 2014 The DM Sans Project Authors (https://github.com/googlefonts/dm-fonts)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Bricolage Grotesque
Copyright 2022 The Bricolage Grotesque Project Authors (https://github.com/ateliertriay/bricolage)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2026-10-22T06:15:56Z</dcterms:created>
  <dcterms:modified xsi:type="dcterms:W3CDTF">2026-10-22T06:15:56Z</dcterms:modified>
</cp:coreProperties>
</file>